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4ef41f25-02ee-1b6a-501d-4228600821dd}">
          <p14:sldIdLst>
            <p14:sldId id="256"/>
          </p14:sldIdLst>
        </p14:section>
        <p14:section name="提案總覽" id="{309d3fbd-2371-1488-4b65-f257562298a3}">
          <p14:sldIdLst>
            <p14:sldId id="257"/>
          </p14:sldIdLst>
        </p14:section>
        <p14:section name="現況體檢" id="{85cb9024-adca-1327-e61d-0f26e6042d58}">
          <p14:sldIdLst>
            <p14:sldId id="258"/>
            <p14:sldId id="259"/>
          </p14:sldIdLst>
        </p14:section>
        <p14:section name="法理依據" id="{0ab13211-df88-5a89-539e-3b0d72d8a724}">
          <p14:sldIdLst>
            <p14:sldId id="260"/>
            <p14:sldId id="261"/>
            <p14:sldId id="262"/>
          </p14:sldIdLst>
        </p14:section>
        <p14:section name="財務清算" id="{b4027c27-a0ec-3a6c-b92e-c7d10a91b186}">
          <p14:sldIdLst>
            <p14:sldId id="263"/>
            <p14:sldId id="264"/>
            <p14:sldId id="265"/>
          </p14:sldIdLst>
        </p14:section>
        <p14:section name="推動程序" id="{7eba9170-b95f-3550-bb3e-16bfac57dd5d}">
          <p14:sldIdLst>
            <p14:sldId id="266"/>
            <p14:sldId id="267"/>
            <p14:sldId id="268"/>
          </p14:sldIdLst>
        </p14:section>
        <p14:section name="請求與結語" id="{be7f41be-e7fb-0826-63c3-e7aaf7af1947}">
          <p14:sldIdLst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B2B2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B2B2B"/>
                </a:solidFill>
                <a:latin typeface="+mn-lt"/>
              </a:rPr>
              <a:t>富宇大地六區戶數（總計 241 戶）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戶數</c:v>
                </c:pt>
              </c:strCache>
            </c:strRef>
          </c:tx>
          <c:spPr>
            <a:solidFill>
              <a:srgbClr val="D9A93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B2B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A2 大境</c:v>
                  </c:pt>
                  <c:pt idx="1">
                    <c:v>A1 上境</c:v>
                  </c:pt>
                  <c:pt idx="2">
                    <c:v>B1 好境</c:v>
                  </c:pt>
                  <c:pt idx="3">
                    <c:v>B2 悠境</c:v>
                  </c:pt>
                  <c:pt idx="4">
                    <c:v>C2 澄境</c:v>
                  </c:pt>
                  <c:pt idx="5">
                    <c:v>C1 清境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</c:v>
                </c:pt>
                <c:pt idx="1">
                  <c:v>13</c:v>
                </c:pt>
                <c:pt idx="2">
                  <c:v>42</c:v>
                </c:pt>
                <c:pt idx="3">
                  <c:v>55</c:v>
                </c:pt>
                <c:pt idx="4">
                  <c:v>59</c:v>
                </c:pt>
                <c:pt idx="5">
                  <c:v>66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B2B2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開場：我是 A2 富宇大境 A17、龍社路 595 號的區分所有權人廖倫豪，受全體 6 戶委託擔任召集人，今天依《公寓大廈管理條例》第 26 條第 1 項，向管委會報告本區獨立分割提案。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先講結論：出入獨立、垃圾自理、定存專單產權清楚、獨立後負擔大幅下降。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A2 與 A1 都臨龍社路獨立出入；其餘四區經內部私設巷道進出，高度共用巷道與環保室。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數字均出自管委會例會資料：睿豐每週二次 6 桶每桶 $1,000，物業經理每月 $70,350。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重點：第 26 條的分割決定權在分區自身的區權人會議。函釋字號正式送件前建議再核對原文。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三張王牌直接回應管委會最常見的抗辯：公設不可分、機電依賴、資產混同。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請對照附件二地籍配置圖：A2 位於龍社路南側，與內部巷道系統隔路分離。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三筆款項分別有會議紀錄與財報為據；結餘款 4,500 元為概估，以清算結果為準。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A2 定存為第 2 筆存單，與其他三區分開立卷，分割不會動到大社區其餘逾 760 萬元公共基金。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戶透天維護單純，主要支出僅門前路燈公電與行政雜支。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我們已完成階段一，今天進入階段二：正式提案、請管委會列入例會審議。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強調雙贏：分割對 235 戶沒有財務損失，反而減輕公設與管理負擔。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以協商為優先；救濟途徑僅作為備案，正式採用前應諮詢律師確認適用性。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具體請求三件事：列入例會審議、啟動資產清算協議草案、協力辦理公所報備。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感謝聆聽，歡迎委員提問。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 rot="-1680000">
            <a:off x="2011680" y="265176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chemeClr val="accent5">
                    <a:alpha val="30000"/>
                  </a:schemeClr>
                </a:solidFill>
              </a:rPr>
              <a:t>Howard Liao Ph.D.</a:t>
            </a:r>
            <a:endParaRPr lang="en-US" sz="6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 rot="-1680000">
            <a:off x="2011680" y="265176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chemeClr val="accent5">
                    <a:alpha val="30000"/>
                  </a:schemeClr>
                </a:solidFill>
              </a:rPr>
              <a:t>Howard Liao Ph.D.</a:t>
            </a:r>
            <a:endParaRPr lang="en-US" sz="6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富宇大境（A2 區）法定獨立分割專案報告 ｜ 專案編號：FY-SPLIT-2026-A2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201168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報告人：廖倫豪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85216"/>
            <a:ext cx="11091672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6382512"/>
            <a:ext cx="11091672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報告人：廖倫豪 ｜ Howard Liao Ph.D.</a:t>
            </a:r>
            <a:endParaRPr lang="en-US" sz="1000" dirty="0"/>
          </a:p>
        </p:txBody>
      </p:sp>
      <p:sp>
        <p:nvSpPr>
          <p:cNvPr id="8" name="Text 6"/>
          <p:cNvSpPr/>
          <p:nvPr>
            <p:ph idx="106" type="title" hasCustomPrompt="1"/>
          </p:nvPr>
        </p:nvSpPr>
        <p:spPr>
          <a:xfrm>
            <a:off x="548640" y="749808"/>
            <a:ext cx="11091672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82296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依據《公寓大廈管理條例》第 26 條第 1 項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28016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富宇大境（A2 區）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法定獨立分割專案報告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06324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獨立分割提案 ｜ 法理依據 ｜ 資產清算 ｜ 推動 SOP</a:t>
            </a:r>
            <a:endParaRPr lang="en-US" sz="1800" dirty="0"/>
          </a:p>
        </p:txBody>
      </p:sp>
      <p:sp>
        <p:nvSpPr>
          <p:cNvPr id="5" name="cover rule"/>
          <p:cNvSpPr/>
          <p:nvPr/>
        </p:nvSpPr>
        <p:spPr>
          <a:xfrm>
            <a:off x="731520" y="3703320"/>
            <a:ext cx="6400800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931920"/>
          <a:ext cx="658368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53035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8C6A1F"/>
                          </a:solidFill>
                        </a:rPr>
                        <a:t>專案編號</a:t>
                      </a:r>
                      <a:endParaRPr lang="en-US" sz="1300" dirty="0"/>
                    </a:p>
                  </a:txBody>
                  <a:tcPr marL="0" marR="4572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FY-SPLIT-2026-A2</a:t>
                      </a:r>
                      <a:endParaRPr lang="en-US" sz="1300" dirty="0"/>
                    </a:p>
                  </a:txBody>
                  <a:tcPr marL="0" marR="4572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8C6A1F"/>
                          </a:solidFill>
                        </a:rPr>
                        <a:t>受 文 者</a:t>
                      </a:r>
                      <a:endParaRPr lang="en-US" sz="1300" dirty="0"/>
                    </a:p>
                  </a:txBody>
                  <a:tcPr marL="0" marR="4572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富宇大地社區管理委員會（主任委員 馬士傑 先生）</a:t>
                      </a:r>
                      <a:endParaRPr lang="en-US" sz="1300" dirty="0"/>
                    </a:p>
                  </a:txBody>
                  <a:tcPr marL="0" marR="4572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8C6A1F"/>
                          </a:solidFill>
                        </a:rPr>
                        <a:t>提 案 人</a:t>
                      </a:r>
                      <a:endParaRPr lang="en-US" sz="1300" dirty="0"/>
                    </a:p>
                  </a:txBody>
                  <a:tcPr marL="0" marR="4572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富宇大境（A2 區）全體 6 戶區分所有權人</a:t>
                      </a:r>
                      <a:endParaRPr lang="en-US" sz="1300" dirty="0"/>
                    </a:p>
                  </a:txBody>
                  <a:tcPr marL="0" marR="4572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8C6A1F"/>
                          </a:solidFill>
                        </a:rPr>
                        <a:t>報告日期</a:t>
                      </a:r>
                      <a:endParaRPr lang="en-US" sz="1300" dirty="0"/>
                    </a:p>
                  </a:txBody>
                  <a:tcPr marL="0" marR="4572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中華民國 115 年 10 月</a:t>
                      </a:r>
                      <a:endParaRPr lang="en-US" sz="1300" dirty="0"/>
                    </a:p>
                  </a:txBody>
                  <a:tcPr marL="0" marR="4572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" name="photo ring"/>
          <p:cNvSpPr/>
          <p:nvPr/>
        </p:nvSpPr>
        <p:spPr>
          <a:xfrm>
            <a:off x="8275320" y="777240"/>
            <a:ext cx="3291840" cy="329184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2"/>
            </a:solidFill>
            <a:prstDash val="solid"/>
          </a:ln>
        </p:spPr>
      </p:sp>
      <p:pic>
        <p:nvPicPr>
          <p:cNvPr id="8" name="portrait" descr="報告人 廖倫豪 博士 照片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868680"/>
            <a:ext cx="3108960" cy="31089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635240" y="4251960"/>
            <a:ext cx="4572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2B2B2B"/>
                </a:solidFill>
              </a:rPr>
              <a:t>廖倫豪 博士</a:t>
            </a:r>
            <a:endParaRPr lang="en-US" sz="26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B8862D"/>
                </a:solidFill>
              </a:rPr>
              <a:t>Howard Liao Ph.D.</a:t>
            </a:r>
            <a:endParaRPr lang="en-US" sz="26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B6B6B"/>
                </a:solidFill>
              </a:rPr>
              <a:t>A2 富宇大境 A17（龍社路 595 號）區分所有權人</a:t>
            </a:r>
            <a:endParaRPr lang="en-US" sz="26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B6B6B"/>
                </a:solidFill>
              </a:rPr>
              <a:t>全體 6 戶受託召集人 ｜ 社區治理諮詢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/>
          <p:nvPr>
            <p:ph idx="106" type="title" hasCustomPrompt="1"/>
          </p:nvPr>
        </p:nvSpPr>
        <p:spPr>
          <a:xfrm>
            <a:off x="548640" y="7498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執行摘要：四大核心結論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>A2 大境具備法定獨立分割要件，且分割不影響富宇大地其餘 235 戶之公共基金與營運</a:t>
            </a:r>
            <a:endParaRPr lang="en-US" sz="1600" dirty="0"/>
          </a:p>
        </p:txBody>
      </p:sp>
      <p:sp>
        <p:nvSpPr>
          <p:cNvPr id="4" name="summary card 1"/>
          <p:cNvSpPr/>
          <p:nvPr/>
        </p:nvSpPr>
        <p:spPr>
          <a:xfrm>
            <a:off x="548640" y="2103120"/>
            <a:ext cx="5408676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summary icon 1"/>
          <p:cNvSpPr/>
          <p:nvPr/>
        </p:nvSpPr>
        <p:spPr>
          <a:xfrm>
            <a:off x="822960" y="242316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summary icon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" y="2617470"/>
            <a:ext cx="388620" cy="3886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28800" y="23774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4"/>
                </a:solidFill>
              </a:rPr>
              <a:t>地理出入完全獨立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1828800" y="288036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6 戶門牌臨龍社路公有計畫道路，出入不途經富宇大地內部私設巷道（642 巷等）</a:t>
            </a:r>
            <a:endParaRPr lang="en-US" sz="1400" dirty="0"/>
          </a:p>
        </p:txBody>
      </p:sp>
      <p:sp>
        <p:nvSpPr>
          <p:cNvPr id="9" name="summary card 2"/>
          <p:cNvSpPr/>
          <p:nvPr/>
        </p:nvSpPr>
        <p:spPr>
          <a:xfrm>
            <a:off x="6231636" y="2103120"/>
            <a:ext cx="5408676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summary icon 2"/>
          <p:cNvSpPr/>
          <p:nvPr/>
        </p:nvSpPr>
        <p:spPr>
          <a:xfrm>
            <a:off x="6505956" y="242316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summary icon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0266" y="2617470"/>
            <a:ext cx="388620" cy="3886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511796" y="23774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4"/>
                </a:solidFill>
              </a:rPr>
              <a:t>垃圾清運完全非依賴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7511796" y="288036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住戶於門前等候台中市環保局公有垃圾車，未使用內部睿豐收費子母車</a:t>
            </a:r>
            <a:endParaRPr lang="en-US" sz="1400" dirty="0"/>
          </a:p>
        </p:txBody>
      </p:sp>
      <p:sp>
        <p:nvSpPr>
          <p:cNvPr id="14" name="summary card 3"/>
          <p:cNvSpPr/>
          <p:nvPr/>
        </p:nvSpPr>
        <p:spPr>
          <a:xfrm>
            <a:off x="548640" y="4160520"/>
            <a:ext cx="5408676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summary icon 3"/>
          <p:cNvSpPr/>
          <p:nvPr/>
        </p:nvSpPr>
        <p:spPr>
          <a:xfrm>
            <a:off x="822960" y="448056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summary icon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270" y="4674870"/>
            <a:ext cx="388620" cy="3886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828800" y="44348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4"/>
                </a:solidFill>
              </a:rPr>
              <a:t>產權專款明確具備憑據</a:t>
            </a:r>
            <a:endParaRPr lang="en-US" sz="1900" dirty="0"/>
          </a:p>
        </p:txBody>
      </p:sp>
      <p:sp>
        <p:nvSpPr>
          <p:cNvPr id="18" name="Text 13"/>
          <p:cNvSpPr txBox="1"/>
          <p:nvPr/>
        </p:nvSpPr>
        <p:spPr>
          <a:xfrm>
            <a:off x="1828800" y="493776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新光銀行已獨立開立「A2 大境區定存」NT$ 220,231 元，帳目分明</a:t>
            </a:r>
            <a:endParaRPr lang="en-US" sz="1400" dirty="0"/>
          </a:p>
        </p:txBody>
      </p:sp>
      <p:sp>
        <p:nvSpPr>
          <p:cNvPr id="19" name="summary card 4"/>
          <p:cNvSpPr/>
          <p:nvPr/>
        </p:nvSpPr>
        <p:spPr>
          <a:xfrm>
            <a:off x="6231636" y="4160520"/>
            <a:ext cx="5408676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" name="summary icon 4"/>
          <p:cNvSpPr/>
          <p:nvPr/>
        </p:nvSpPr>
        <p:spPr>
          <a:xfrm>
            <a:off x="6505956" y="448056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summary icon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0266" y="4674870"/>
            <a:ext cx="388620" cy="3886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511796" y="44348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4"/>
                </a:solidFill>
              </a:rPr>
              <a:t>管理費負擔實質減半</a:t>
            </a:r>
            <a:endParaRPr lang="en-US" sz="1900" dirty="0"/>
          </a:p>
        </p:txBody>
      </p:sp>
      <p:sp>
        <p:nvSpPr>
          <p:cNvPr id="23" name="Text 17"/>
          <p:cNvSpPr txBox="1"/>
          <p:nvPr/>
        </p:nvSpPr>
        <p:spPr>
          <a:xfrm>
            <a:off x="7511796" y="493776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獨立後免分攤物業經理與清運費，每戶月費可由 $1,000 降至 $400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/>
          <p:nvPr>
            <p:ph idx="106" type="title" hasCustomPrompt="1"/>
          </p:nvPr>
        </p:nvSpPr>
        <p:spPr>
          <a:xfrm>
            <a:off x="548640" y="7498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六區合併現況：A2 大境僅占全社區 2.49%</a:t>
            </a:r>
            <a:endParaRPr lang="en-US" sz="2800" dirty="0"/>
          </a:p>
        </p:txBody>
      </p:sp>
      <p:sp>
        <p:nvSpPr>
          <p:cNvPr id="3" name="chart card"/>
          <p:cNvSpPr/>
          <p:nvPr/>
        </p:nvSpPr>
        <p:spPr>
          <a:xfrm>
            <a:off x="548640" y="1600200"/>
            <a:ext cx="6766560" cy="4572000"/>
          </a:xfrm>
          <a:prstGeom prst="roundRect">
            <a:avLst>
              <a:gd name="adj" fmla="val 160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731520" y="1691640"/>
          <a:ext cx="640080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tat card"/>
          <p:cNvSpPr/>
          <p:nvPr/>
        </p:nvSpPr>
        <p:spPr>
          <a:xfrm>
            <a:off x="7680960" y="1600200"/>
            <a:ext cx="3959352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863840" y="1691640"/>
            <a:ext cx="35935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B8862D"/>
                </a:solidFill>
              </a:rPr>
              <a:t>6 戶</a:t>
            </a:r>
            <a:endParaRPr lang="en-US" sz="44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</a:rPr>
              <a:t>表決話語權僅 2.49%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7680960" y="3566160"/>
            <a:ext cx="3959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合併沿革</a:t>
            </a:r>
            <a:endParaRPr lang="en-US" sz="1700" dirty="0"/>
          </a:p>
        </p:txBody>
      </p:sp>
      <p:sp>
        <p:nvSpPr>
          <p:cNvPr id="8" name="history dot 1"/>
          <p:cNvSpPr/>
          <p:nvPr/>
        </p:nvSpPr>
        <p:spPr>
          <a:xfrm>
            <a:off x="7699248" y="4133088"/>
            <a:ext cx="164592" cy="16459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01000" y="4023360"/>
            <a:ext cx="3639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6A1F"/>
                </a:solidFill>
              </a:rPr>
              <a:t>原始  </a:t>
            </a:r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</a:rPr>
              <a:t>大境、上境、悠境、澄境 4 個獨立別墅案</a:t>
            </a:r>
            <a:endParaRPr lang="en-US" sz="1300" dirty="0"/>
          </a:p>
        </p:txBody>
      </p:sp>
      <p:sp>
        <p:nvSpPr>
          <p:cNvPr id="10" name="history dot 2"/>
          <p:cNvSpPr/>
          <p:nvPr/>
        </p:nvSpPr>
        <p:spPr>
          <a:xfrm>
            <a:off x="7699248" y="4663440"/>
            <a:ext cx="164592" cy="16459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01000" y="4553712"/>
            <a:ext cx="3639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6A1F"/>
                </a:solidFill>
              </a:rPr>
              <a:t>115.01.24  </a:t>
            </a:r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</a:rPr>
              <a:t>好境、清境決議合併成立聯合管委會</a:t>
            </a:r>
            <a:endParaRPr lang="en-US" sz="1300" dirty="0"/>
          </a:p>
        </p:txBody>
      </p:sp>
      <p:sp>
        <p:nvSpPr>
          <p:cNvPr id="12" name="history dot 3"/>
          <p:cNvSpPr/>
          <p:nvPr/>
        </p:nvSpPr>
        <p:spPr>
          <a:xfrm>
            <a:off x="7699248" y="5193792"/>
            <a:ext cx="164592" cy="16459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001000" y="5084064"/>
            <a:ext cx="3639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6A1F"/>
                </a:solidFill>
              </a:rPr>
              <a:t>115.04.18  </a:t>
            </a:r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</a:rPr>
              <a:t>完成六區合併程序</a:t>
            </a:r>
            <a:endParaRPr lang="en-US" sz="1300" dirty="0"/>
          </a:p>
        </p:txBody>
      </p:sp>
      <p:sp>
        <p:nvSpPr>
          <p:cNvPr id="14" name="history dot 4"/>
          <p:cNvSpPr/>
          <p:nvPr/>
        </p:nvSpPr>
        <p:spPr>
          <a:xfrm>
            <a:off x="7699248" y="5724144"/>
            <a:ext cx="164592" cy="16459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001000" y="5614416"/>
            <a:ext cx="3639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6A1F"/>
                </a:solidFill>
              </a:rPr>
              <a:t>115.05.14  </a:t>
            </a:r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</a:rPr>
              <a:t>龍井區公所核准備查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/>
          <p:nvPr>
            <p:ph idx="106" type="title" hasCustomPrompt="1"/>
          </p:nvPr>
        </p:nvSpPr>
        <p:spPr>
          <a:xfrm>
            <a:off x="548640" y="7498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利益不對等：A2 大境的逆向補貼</a:t>
            </a:r>
            <a:endParaRPr lang="en-US" sz="2800" dirty="0"/>
          </a:p>
        </p:txBody>
      </p:sp>
      <p:sp>
        <p:nvSpPr>
          <p:cNvPr id="3" name="cost card 1"/>
          <p:cNvSpPr/>
          <p:nvPr/>
        </p:nvSpPr>
        <p:spPr>
          <a:xfrm>
            <a:off x="548640" y="1691640"/>
            <a:ext cx="3514039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920240"/>
            <a:ext cx="314827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NT$ 72,000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743200"/>
            <a:ext cx="31482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每年繳交管理費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91840"/>
            <a:ext cx="296539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6 戶 × $1,000 × 12 個月，全數流入大社區經常門</a:t>
            </a:r>
            <a:endParaRPr lang="en-US" sz="1400" dirty="0"/>
          </a:p>
        </p:txBody>
      </p:sp>
      <p:sp>
        <p:nvSpPr>
          <p:cNvPr id="7" name="cost card 2"/>
          <p:cNvSpPr/>
          <p:nvPr/>
        </p:nvSpPr>
        <p:spPr>
          <a:xfrm>
            <a:off x="4336999" y="1691640"/>
            <a:ext cx="3514039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19879" y="1920240"/>
            <a:ext cx="314827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NT$ 48,000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4519879" y="2743200"/>
            <a:ext cx="31482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每月子母車清運費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611319" y="3291840"/>
            <a:ext cx="296539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睿豐每週兩次 6 桶；大境住戶走幾步路即等免費市府垃圾車，從未使用</a:t>
            </a:r>
            <a:endParaRPr lang="en-US" sz="1400" dirty="0"/>
          </a:p>
        </p:txBody>
      </p:sp>
      <p:sp>
        <p:nvSpPr>
          <p:cNvPr id="11" name="cost card 3"/>
          <p:cNvSpPr/>
          <p:nvPr/>
        </p:nvSpPr>
        <p:spPr>
          <a:xfrm>
            <a:off x="8125358" y="1691640"/>
            <a:ext cx="3514039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08238" y="1920240"/>
            <a:ext cx="314827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NT$ 70,350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8308238" y="2743200"/>
            <a:ext cx="31482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每月物業經理薪資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399678" y="3291840"/>
            <a:ext cx="296539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常駐內部貨櫃屋管理室；大境位於最外側，信件多由郵差直送</a:t>
            </a:r>
            <a:endParaRPr lang="en-US" sz="1400" dirty="0"/>
          </a:p>
        </p:txBody>
      </p:sp>
      <p:sp>
        <p:nvSpPr>
          <p:cNvPr id="15" name="imbalance banner"/>
          <p:cNvSpPr/>
          <p:nvPr/>
        </p:nvSpPr>
        <p:spPr>
          <a:xfrm>
            <a:off x="548640" y="5257800"/>
            <a:ext cx="11091672" cy="868680"/>
          </a:xfrm>
          <a:prstGeom prst="roundRect">
            <a:avLst>
              <a:gd name="adj" fmla="val 8421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5257800"/>
            <a:ext cx="10543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結論：大境 6 戶實質享受之物業與清運服務近乎於零，卻按戶分攤大社區營運成本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/>
          <p:nvPr>
            <p:ph idx="106" type="title" hasCustomPrompt="1"/>
          </p:nvPr>
        </p:nvSpPr>
        <p:spPr>
          <a:xfrm>
            <a:off x="548640" y="7498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法定分割之法理依據</a:t>
            </a:r>
            <a:endParaRPr lang="en-US" sz="2800" dirty="0"/>
          </a:p>
        </p:txBody>
      </p:sp>
      <p:sp>
        <p:nvSpPr>
          <p:cNvPr id="3" name="statute card"/>
          <p:cNvSpPr/>
          <p:nvPr/>
        </p:nvSpPr>
        <p:spPr>
          <a:xfrm>
            <a:off x="548640" y="1645920"/>
            <a:ext cx="5120640" cy="4480560"/>
          </a:xfrm>
          <a:prstGeom prst="roundRect">
            <a:avLst>
              <a:gd name="adj" fmla="val 1633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statute icon"/>
          <p:cNvSpPr/>
          <p:nvPr/>
        </p:nvSpPr>
        <p:spPr>
          <a:xfrm>
            <a:off x="822960" y="192024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statute ico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1031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9202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《公寓大廈管理條例》第 26 條第 1 項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880360"/>
            <a:ext cx="4526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多數各自獨立使用之建築物、公寓大廈，如各該區得獨立使用且能分別成立管理委員會者，得分別成立管理委員會。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5074920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兩大構成要件：① 得獨立使用　② 能分別成立管委會</a:t>
            </a:r>
            <a:endParaRPr lang="en-US" sz="1500" dirty="0"/>
          </a:p>
        </p:txBody>
      </p:sp>
      <p:sp>
        <p:nvSpPr>
          <p:cNvPr id="9" name="ruling card 1"/>
          <p:cNvSpPr/>
          <p:nvPr/>
        </p:nvSpPr>
        <p:spPr>
          <a:xfrm>
            <a:off x="6035040" y="1645920"/>
            <a:ext cx="5605272" cy="2057400"/>
          </a:xfrm>
          <a:prstGeom prst="roundRect">
            <a:avLst>
              <a:gd name="adj" fmla="val 355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ruling icon 1"/>
          <p:cNvSpPr/>
          <p:nvPr/>
        </p:nvSpPr>
        <p:spPr>
          <a:xfrm>
            <a:off x="6263640" y="1874520"/>
            <a:ext cx="594360" cy="5943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1" name="ruling icon 1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2230" y="2023110"/>
            <a:ext cx="297180" cy="2971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040880" y="1874520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內政部 86 年台內營字第 8673955 號函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6309360" y="2560320"/>
            <a:ext cx="5120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「各該區」係指得各自獨立使用之分區自身，由該分區之區權人會議決議分別成立管委會，毋庸由全集居地區全體區權人會議決議。</a:t>
            </a:r>
            <a:endParaRPr lang="en-US" sz="1400" dirty="0"/>
          </a:p>
        </p:txBody>
      </p:sp>
      <p:sp>
        <p:nvSpPr>
          <p:cNvPr id="14" name="ruling card 2"/>
          <p:cNvSpPr/>
          <p:nvPr/>
        </p:nvSpPr>
        <p:spPr>
          <a:xfrm>
            <a:off x="6035040" y="3931920"/>
            <a:ext cx="5605272" cy="2057400"/>
          </a:xfrm>
          <a:prstGeom prst="roundRect">
            <a:avLst>
              <a:gd name="adj" fmla="val 355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ruling icon 2"/>
          <p:cNvSpPr/>
          <p:nvPr/>
        </p:nvSpPr>
        <p:spPr>
          <a:xfrm>
            <a:off x="6263640" y="4160520"/>
            <a:ext cx="594360" cy="5943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6" name="ruling icon 2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2230" y="4309110"/>
            <a:ext cx="297180" cy="2971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040880" y="4160520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內政部 90 年台內營字第 9085521 號函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6309360" y="4846320"/>
            <a:ext cx="5120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透天建築物臨接既成道路或計畫道路，生活公設互不依賴者，主管機關應准予辦理獨立報備。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/>
          <p:nvPr>
            <p:ph idx="106" type="title" hasCustomPrompt="1"/>
          </p:nvPr>
        </p:nvSpPr>
        <p:spPr>
          <a:xfrm>
            <a:off x="548640" y="7498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三大核心王牌：A2 完全符合「得獨立使用」</a:t>
            </a:r>
            <a:endParaRPr lang="en-US" sz="2800" dirty="0"/>
          </a:p>
        </p:txBody>
      </p:sp>
      <p:sp>
        <p:nvSpPr>
          <p:cNvPr id="3" name="ace card 1"/>
          <p:cNvSpPr/>
          <p:nvPr/>
        </p:nvSpPr>
        <p:spPr>
          <a:xfrm>
            <a:off x="548640" y="1645920"/>
            <a:ext cx="3514039" cy="4480560"/>
          </a:xfrm>
          <a:prstGeom prst="roundRect">
            <a:avLst>
              <a:gd name="adj" fmla="val 2082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ace icon 1"/>
          <p:cNvSpPr/>
          <p:nvPr/>
        </p:nvSpPr>
        <p:spPr>
          <a:xfrm>
            <a:off x="1847088" y="187452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ace icon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5688" y="21031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880360"/>
            <a:ext cx="31482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王牌一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246120"/>
            <a:ext cx="31482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免用子母車・環保自理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84048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龍社路為市府環保局垃圾車定時行經路線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6 戶出門即可投遞，無人使用內部收費子母車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出具切結書，自願放棄使用環保室</a:t>
            </a:r>
            <a:endParaRPr lang="en-US" sz="1400" dirty="0"/>
          </a:p>
        </p:txBody>
      </p:sp>
      <p:sp>
        <p:nvSpPr>
          <p:cNvPr id="9" name="ace card 2"/>
          <p:cNvSpPr/>
          <p:nvPr/>
        </p:nvSpPr>
        <p:spPr>
          <a:xfrm>
            <a:off x="4336999" y="1645920"/>
            <a:ext cx="3514039" cy="4480560"/>
          </a:xfrm>
          <a:prstGeom prst="roundRect">
            <a:avLst>
              <a:gd name="adj" fmla="val 2082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ace icon 2"/>
          <p:cNvSpPr/>
          <p:nvPr/>
        </p:nvSpPr>
        <p:spPr>
          <a:xfrm>
            <a:off x="5635447" y="187452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ace icon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4047" y="210312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19879" y="2880360"/>
            <a:ext cx="31482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王牌二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4519879" y="3246120"/>
            <a:ext cx="31482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臨公有道路・水電排污獨立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4611319" y="384048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基地臨接公有計畫道路龍社路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不通行內部私設巷道（638、642、646 巷）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自來水、電力、化糞系統由幹管直供或自理</a:t>
            </a:r>
            <a:endParaRPr lang="en-US" sz="1400" dirty="0"/>
          </a:p>
        </p:txBody>
      </p:sp>
      <p:sp>
        <p:nvSpPr>
          <p:cNvPr id="15" name="ace card 3"/>
          <p:cNvSpPr/>
          <p:nvPr/>
        </p:nvSpPr>
        <p:spPr>
          <a:xfrm>
            <a:off x="8125358" y="1645920"/>
            <a:ext cx="3514039" cy="4480560"/>
          </a:xfrm>
          <a:prstGeom prst="roundRect">
            <a:avLst>
              <a:gd name="adj" fmla="val 2082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6" name="ace icon 3"/>
          <p:cNvSpPr/>
          <p:nvPr/>
        </p:nvSpPr>
        <p:spPr>
          <a:xfrm>
            <a:off x="9423806" y="187452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ace icon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2406" y="210312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308238" y="2880360"/>
            <a:ext cx="31482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王牌三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8308238" y="3246120"/>
            <a:ext cx="31482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專款定存・產權清晰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8399678" y="384048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5 月例會議題四：各區公共基金分別定存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9 月財報：新光銀行存單 2「A2 大境區」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金額 NT$ 220,231 元，帳目涇渭分明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/>
          <p:nvPr>
            <p:ph idx="106" type="title" hasCustomPrompt="1"/>
          </p:nvPr>
        </p:nvSpPr>
        <p:spPr>
          <a:xfrm>
            <a:off x="548640" y="7498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地籍配置圖：A2 大境臨龍社路獨立出入</a:t>
            </a:r>
            <a:endParaRPr lang="en-US" sz="2800" dirty="0"/>
          </a:p>
        </p:txBody>
      </p:sp>
      <p:sp>
        <p:nvSpPr>
          <p:cNvPr id="3" name="map frame"/>
          <p:cNvSpPr/>
          <p:nvPr/>
        </p:nvSpPr>
        <p:spPr>
          <a:xfrm>
            <a:off x="548640" y="1600200"/>
            <a:ext cx="6492240" cy="4599432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pic>
        <p:nvPicPr>
          <p:cNvPr id="4" name="site map" descr="富宇大地全區地籍配置圖，A2 大境位於龍社路南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673352"/>
            <a:ext cx="6345936" cy="4453128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1600200"/>
          <a:ext cx="432511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3182112"/>
              </a:tblGrid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8C6A1F"/>
                          </a:solidFill>
                        </a:rPr>
                        <a:t>標的戶別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</a:rPr>
                        <a:t>A2 大境 6 戶透天別墅（龍社路 593–603 號）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8C6A1F"/>
                          </a:solidFill>
                        </a:rPr>
                        <a:t>臨接道路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</a:rPr>
                        <a:t>直接面臨都市計畫公有道路「龍社路」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8C6A1F"/>
                          </a:solidFill>
                        </a:rPr>
                        <a:t>內部巷道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</a:rPr>
                        <a:t>完全無需進入 638、642、646 巷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8C6A1F"/>
                          </a:solidFill>
                        </a:rPr>
                        <a:t>共用設施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</a:rPr>
                        <a:t>與貨櫃屋管理室、流動廁所、遊樂綠地無物理重疊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8C6A1F"/>
                          </a:solidFill>
                        </a:rPr>
                        <a:t>分割結論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8862D"/>
                          </a:solidFill>
                        </a:rPr>
                        <a:t>符合第 26 條第 1 項「得獨立使用且能分別成立管委會」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/>
          <p:nvPr>
            <p:ph idx="106" type="title" hasCustomPrompt="1"/>
          </p:nvPr>
        </p:nvSpPr>
        <p:spPr>
          <a:xfrm>
            <a:off x="548640" y="7498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法定可取回公款：合計 NT$ 284,731 元</a:t>
            </a:r>
            <a:endParaRPr lang="en-US" sz="2800" dirty="0"/>
          </a:p>
        </p:txBody>
      </p:sp>
      <p:sp>
        <p:nvSpPr>
          <p:cNvPr id="3" name="asset card 1"/>
          <p:cNvSpPr/>
          <p:nvPr/>
        </p:nvSpPr>
        <p:spPr>
          <a:xfrm>
            <a:off x="548640" y="1645920"/>
            <a:ext cx="3514039" cy="301752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828800"/>
            <a:ext cx="314827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NT$ 220,231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606040"/>
            <a:ext cx="31482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新光銀行 A2 大境定存單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108960"/>
            <a:ext cx="296539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含孳生利息｜115.05.06 例會議題四、115.09.08 財報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977640"/>
            <a:ext cx="29653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移交方式：存單更名或解約匯撥</a:t>
            </a:r>
            <a:endParaRPr lang="en-US" sz="1300" dirty="0"/>
          </a:p>
        </p:txBody>
      </p:sp>
      <p:sp>
        <p:nvSpPr>
          <p:cNvPr id="8" name="asset card 2"/>
          <p:cNvSpPr/>
          <p:nvPr/>
        </p:nvSpPr>
        <p:spPr>
          <a:xfrm>
            <a:off x="4336999" y="1645920"/>
            <a:ext cx="3514039" cy="301752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19879" y="1828800"/>
            <a:ext cx="314827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NT$ 60,000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4519879" y="2606040"/>
            <a:ext cx="31482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富宇建設交屋管理基金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611319" y="3108960"/>
            <a:ext cx="296539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$10,000 × 6 戶｜115.05.05 富宇支票 241 萬入帳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611319" y="3977640"/>
            <a:ext cx="29653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移交方式：母體管委會開立支票返還</a:t>
            </a:r>
            <a:endParaRPr lang="en-US" sz="1300" dirty="0"/>
          </a:p>
        </p:txBody>
      </p:sp>
      <p:sp>
        <p:nvSpPr>
          <p:cNvPr id="13" name="asset card 3"/>
          <p:cNvSpPr/>
          <p:nvPr/>
        </p:nvSpPr>
        <p:spPr>
          <a:xfrm>
            <a:off x="8125358" y="1645920"/>
            <a:ext cx="3514039" cy="301752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08238" y="1828800"/>
            <a:ext cx="314827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約 NT$ 4,500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8308238" y="2606040"/>
            <a:ext cx="31482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5–9 月管理費結餘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399678" y="3108960"/>
            <a:ext cx="296539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A2 繳交 30,000 元扣除公設水電攤提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399678" y="3977640"/>
            <a:ext cx="29653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移交方式：監察、財務委員清算後電匯</a:t>
            </a:r>
            <a:endParaRPr lang="en-US" sz="1300" dirty="0"/>
          </a:p>
        </p:txBody>
      </p:sp>
      <p:sp>
        <p:nvSpPr>
          <p:cNvPr id="18" name="total banner"/>
          <p:cNvSpPr/>
          <p:nvPr/>
        </p:nvSpPr>
        <p:spPr>
          <a:xfrm>
            <a:off x="548640" y="4937760"/>
            <a:ext cx="11091672" cy="1188720"/>
          </a:xfrm>
          <a:prstGeom prst="roundRect">
            <a:avLst>
              <a:gd name="adj" fmla="val 615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8680" y="493776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合計可取回公款總額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0" y="4937760"/>
            <a:ext cx="58795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NT$ 284,731 元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/>
          <p:nvPr>
            <p:ph idx="106" type="title" hasCustomPrompt="1"/>
          </p:nvPr>
        </p:nvSpPr>
        <p:spPr>
          <a:xfrm>
            <a:off x="548640" y="7498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新光銀行四區定存清冊（115.09.08 例會）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69494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737360"/>
                <a:gridCol w="27432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定存專單名稱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86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存單本金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86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權屬歸屬認定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862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</a:rPr>
                        <a:t>A1 上境區定存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</a:rPr>
                        <a:t>$344,300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</a:rPr>
                        <a:t>屬 A1 上境區權人所有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8C6A1F"/>
                          </a:solidFill>
                        </a:rPr>
                        <a:t>A2 大境區定存（本專案）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C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8C6A1F"/>
                          </a:solidFill>
                        </a:rPr>
                        <a:t>NT$ 220,231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8C6A1F"/>
                          </a:solidFill>
                        </a:rPr>
                        <a:t>100% 屬 A2 大境 6 戶，分割移交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C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</a:rPr>
                        <a:t>B2 悠境區定存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</a:rPr>
                        <a:t>$918,349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</a:rPr>
                        <a:t>屬 B2 悠境區權人所有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</a:rPr>
                        <a:t>C2 澄境區定存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</a:rPr>
                        <a:t>$1,189,402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</a:rPr>
                        <a:t>屬 C2 澄境區權人所有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B2B2B"/>
                          </a:solidFill>
                        </a:rPr>
                        <a:t>四筆總計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2B2B2B"/>
                          </a:solidFill>
                        </a:rPr>
                        <a:t>NT$ 2,672,282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B2B2B"/>
                          </a:solidFill>
                        </a:rPr>
                        <a:t>各區獨立定存存單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</a:tr>
            </a:tbl>
          </a:graphicData>
        </a:graphic>
      </p:graphicFrame>
      <p:sp>
        <p:nvSpPr>
          <p:cNvPr id="4" name="decision card"/>
          <p:cNvSpPr/>
          <p:nvPr/>
        </p:nvSpPr>
        <p:spPr>
          <a:xfrm>
            <a:off x="7863840" y="1645920"/>
            <a:ext cx="3776472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092440" y="1783080"/>
            <a:ext cx="331927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8C6A1F"/>
                </a:solidFill>
              </a:rPr>
              <a:t>115.05.06 例會議題四決議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B2B2B"/>
                </a:solidFill>
              </a:rPr>
              <a:t>將市府核退之 4 區公共基金依各區分別辦理定存，管委會自始肯認各區產權獨立、非混同單一帳目。</a:t>
            </a:r>
            <a:endParaRPr lang="en-US" sz="1600" dirty="0"/>
          </a:p>
        </p:txBody>
      </p:sp>
      <p:sp>
        <p:nvSpPr>
          <p:cNvPr id="6" name="fund card"/>
          <p:cNvSpPr/>
          <p:nvPr/>
        </p:nvSpPr>
        <p:spPr>
          <a:xfrm>
            <a:off x="7863840" y="4023360"/>
            <a:ext cx="3776472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092440" y="4160520"/>
            <a:ext cx="331927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8C6A1F"/>
                </a:solidFill>
              </a:rPr>
              <a:t>115.05.05 交屋管理基金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B2B2B"/>
                </a:solidFill>
              </a:rPr>
              <a:t>富宇建設支票 241 萬元＝241 戶 × $10,000；A2 大境 6 戶本金 $60,000，分割時應全額返還。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25780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資料來源：附件三 富宇大地 115 年 5 月與 9 月例行會議記錄暨新光銀行定存財報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/>
          <p:nvPr>
            <p:ph idx="106" type="title" hasCustomPrompt="1"/>
          </p:nvPr>
        </p:nvSpPr>
        <p:spPr>
          <a:xfrm>
            <a:off x="548640" y="7498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分割後自主預算：每戶月費 $1,000 → $400</a:t>
            </a:r>
            <a:endParaRPr lang="en-US" sz="2800" dirty="0"/>
          </a:p>
        </p:txBody>
      </p:sp>
      <p:sp>
        <p:nvSpPr>
          <p:cNvPr id="3" name="fee compare card"/>
          <p:cNvSpPr/>
          <p:nvPr/>
        </p:nvSpPr>
        <p:spPr>
          <a:xfrm>
            <a:off x="548640" y="1645920"/>
            <a:ext cx="4206240" cy="4480560"/>
          </a:xfrm>
          <a:prstGeom prst="roundRect">
            <a:avLst>
              <a:gd name="adj" fmla="val 1739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8288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每戶每月管理費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7744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B6B6B"/>
                </a:solidFill>
              </a:rPr>
              <a:t>$1,000</a:t>
            </a:r>
            <a:endParaRPr lang="en-US" sz="3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B6B6B"/>
                </a:solidFill>
              </a:rPr>
              <a:t>現行（富宇大地）</a:t>
            </a:r>
            <a:endParaRPr lang="en-US" sz="3600" dirty="0"/>
          </a:p>
        </p:txBody>
      </p:sp>
      <p:sp>
        <p:nvSpPr>
          <p:cNvPr id="6" name="fee arrow"/>
          <p:cNvSpPr/>
          <p:nvPr/>
        </p:nvSpPr>
        <p:spPr>
          <a:xfrm>
            <a:off x="2377440" y="3566160"/>
            <a:ext cx="548640" cy="548640"/>
          </a:xfrm>
          <a:prstGeom prst="down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420624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B8862D"/>
                </a:solidFill>
              </a:rPr>
              <a:t>$400</a:t>
            </a:r>
            <a:endParaRPr lang="en-US" sz="48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8C6A1F"/>
                </a:solidFill>
              </a:rPr>
              <a:t>獨立後（富宇大境）｜負擔減輕 60%</a:t>
            </a:r>
            <a:endParaRPr lang="en-US" sz="4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0" y="1645920"/>
          <a:ext cx="6519672" cy="914400"/>
        </p:xfrm>
        <a:graphic>
          <a:graphicData uri="http://schemas.openxmlformats.org/drawingml/2006/table">
            <a:tbl>
              <a:tblPr/>
              <a:tblGrid>
                <a:gridCol w="3410712"/>
                <a:gridCol w="1554480"/>
                <a:gridCol w="155448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收支項目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86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每月（NT$）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86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年度（NT$）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862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</a:rPr>
                        <a:t>管理費收入（每戶 $400）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</a:rPr>
                        <a:t>+ 2,400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</a:rPr>
                        <a:t>+ 28,800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</a:rPr>
                        <a:t>公共路燈與設施用電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</a:rPr>
                        <a:t>− 400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</a:rPr>
                        <a:t>− 4,800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</a:rPr>
                        <a:t>行政雜支與開戶規費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</a:rPr>
                        <a:t>− 200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</a:rPr>
                        <a:t>− 2,400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</a:rPr>
                        <a:t>垃圾清運支出（市府垃圾車）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8C6A1F"/>
                          </a:solidFill>
                        </a:rPr>
                        <a:t>常態盈餘／儲備金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C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8C6A1F"/>
                          </a:solidFill>
                        </a:rPr>
                        <a:t>+ 1,800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C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8C6A1F"/>
                          </a:solidFill>
                        </a:rPr>
                        <a:t>+ 21,600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C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5120640" y="5257800"/>
            <a:ext cx="6519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每年盈餘 21,600 元轉入定存滾存，加上可取回之 28 萬餘元公款，作為大境自有儲備基金。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/>
          <p:nvPr>
            <p:ph idx="106" type="title" hasCustomPrompt="1"/>
          </p:nvPr>
        </p:nvSpPr>
        <p:spPr>
          <a:xfrm>
            <a:off x="548640" y="7498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五大推動階段與標準作業程序（SOP）</a:t>
            </a:r>
            <a:endParaRPr lang="en-US" sz="2800" dirty="0"/>
          </a:p>
        </p:txBody>
      </p:sp>
      <p:sp>
        <p:nvSpPr>
          <p:cNvPr id="3" name="sop connector"/>
          <p:cNvSpPr/>
          <p:nvPr/>
        </p:nvSpPr>
        <p:spPr>
          <a:xfrm>
            <a:off x="1280160" y="2331720"/>
            <a:ext cx="9628632" cy="0"/>
          </a:xfrm>
          <a:prstGeom prst="line">
            <a:avLst/>
          </a:prstGeom>
          <a:noFill/>
          <a:ln w="38100">
            <a:solidFill>
              <a:schemeClr val="accent5"/>
            </a:solidFill>
            <a:prstDash val="solid"/>
          </a:ln>
        </p:spPr>
      </p:sp>
      <p:sp>
        <p:nvSpPr>
          <p:cNvPr id="4" name="sop step 1"/>
          <p:cNvSpPr/>
          <p:nvPr/>
        </p:nvSpPr>
        <p:spPr>
          <a:xfrm>
            <a:off x="1115568" y="187452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sop step 1 label"/>
          <p:cNvSpPr txBox="1"/>
          <p:nvPr/>
        </p:nvSpPr>
        <p:spPr>
          <a:xfrm>
            <a:off x="1115568" y="1874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9718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內部連署凝聚</a:t>
            </a:r>
            <a:endParaRPr lang="en-US" sz="1700" dirty="0"/>
          </a:p>
        </p:txBody>
      </p:sp>
      <p:sp>
        <p:nvSpPr>
          <p:cNvPr id="7" name="sop card 1"/>
          <p:cNvSpPr/>
          <p:nvPr/>
        </p:nvSpPr>
        <p:spPr>
          <a:xfrm>
            <a:off x="548640" y="3520440"/>
            <a:ext cx="205740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3657600"/>
            <a:ext cx="1783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6 戶客廳會推選召集人；取得 100% 親筆簽章連署</a:t>
            </a:r>
            <a:endParaRPr lang="en-US" sz="1400" dirty="0"/>
          </a:p>
        </p:txBody>
      </p:sp>
      <p:sp>
        <p:nvSpPr>
          <p:cNvPr id="9" name="sop step 2"/>
          <p:cNvSpPr/>
          <p:nvPr/>
        </p:nvSpPr>
        <p:spPr>
          <a:xfrm>
            <a:off x="3383280" y="1874520"/>
            <a:ext cx="914400" cy="9144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sop step 2 label"/>
          <p:cNvSpPr txBox="1"/>
          <p:nvPr/>
        </p:nvSpPr>
        <p:spPr>
          <a:xfrm>
            <a:off x="3383280" y="1874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2816352" y="29718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正式提案審議</a:t>
            </a:r>
            <a:endParaRPr lang="en-US" sz="1700" dirty="0"/>
          </a:p>
        </p:txBody>
      </p:sp>
      <p:sp>
        <p:nvSpPr>
          <p:cNvPr id="12" name="sop card 2"/>
          <p:cNvSpPr/>
          <p:nvPr/>
        </p:nvSpPr>
        <p:spPr>
          <a:xfrm>
            <a:off x="2816352" y="3520440"/>
            <a:ext cx="2057400" cy="1645920"/>
          </a:xfrm>
          <a:prstGeom prst="roundRect">
            <a:avLst>
              <a:gd name="adj" fmla="val 4444"/>
            </a:avLst>
          </a:prstGeom>
          <a:solidFill>
            <a:srgbClr val="EEF0F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53512" y="3657600"/>
            <a:ext cx="1783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召集人書面發函，列入管委會例會審議</a:t>
            </a:r>
            <a:endParaRPr lang="en-US" sz="1400" dirty="0"/>
          </a:p>
        </p:txBody>
      </p:sp>
      <p:sp>
        <p:nvSpPr>
          <p:cNvPr id="14" name="sop step 3"/>
          <p:cNvSpPr/>
          <p:nvPr/>
        </p:nvSpPr>
        <p:spPr>
          <a:xfrm>
            <a:off x="5650992" y="187452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sop step 3 label"/>
          <p:cNvSpPr txBox="1"/>
          <p:nvPr/>
        </p:nvSpPr>
        <p:spPr>
          <a:xfrm>
            <a:off x="5650992" y="1874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5084064" y="29718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法定程序移交</a:t>
            </a:r>
            <a:endParaRPr lang="en-US" sz="1700" dirty="0"/>
          </a:p>
        </p:txBody>
      </p:sp>
      <p:sp>
        <p:nvSpPr>
          <p:cNvPr id="17" name="sop card 3"/>
          <p:cNvSpPr/>
          <p:nvPr/>
        </p:nvSpPr>
        <p:spPr>
          <a:xfrm>
            <a:off x="5084064" y="3520440"/>
            <a:ext cx="205740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21224" y="3657600"/>
            <a:ext cx="1783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簽署資產分割清算協議；成立大境管委會、訂規約</a:t>
            </a:r>
            <a:endParaRPr lang="en-US" sz="1400" dirty="0"/>
          </a:p>
        </p:txBody>
      </p:sp>
      <p:sp>
        <p:nvSpPr>
          <p:cNvPr id="19" name="sop step 4"/>
          <p:cNvSpPr/>
          <p:nvPr/>
        </p:nvSpPr>
        <p:spPr>
          <a:xfrm>
            <a:off x="7918704" y="187452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sop step 4 label"/>
          <p:cNvSpPr txBox="1"/>
          <p:nvPr/>
        </p:nvSpPr>
        <p:spPr>
          <a:xfrm>
            <a:off x="7918704" y="1874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7351776" y="29718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主管機關報備</a:t>
            </a:r>
            <a:endParaRPr lang="en-US" sz="1700" dirty="0"/>
          </a:p>
        </p:txBody>
      </p:sp>
      <p:sp>
        <p:nvSpPr>
          <p:cNvPr id="22" name="sop card 4"/>
          <p:cNvSpPr/>
          <p:nvPr/>
        </p:nvSpPr>
        <p:spPr>
          <a:xfrm>
            <a:off x="7351776" y="3520440"/>
            <a:ext cx="205740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88936" y="3657600"/>
            <a:ext cx="1783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向龍井區公所辦理戶數變更（241→235）與成立報備</a:t>
            </a:r>
            <a:endParaRPr lang="en-US" sz="1400" dirty="0"/>
          </a:p>
        </p:txBody>
      </p:sp>
      <p:sp>
        <p:nvSpPr>
          <p:cNvPr id="24" name="sop step 5"/>
          <p:cNvSpPr/>
          <p:nvPr/>
        </p:nvSpPr>
        <p:spPr>
          <a:xfrm>
            <a:off x="10186416" y="187452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sop step 5 label"/>
          <p:cNvSpPr txBox="1"/>
          <p:nvPr/>
        </p:nvSpPr>
        <p:spPr>
          <a:xfrm>
            <a:off x="10186416" y="1874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9619488" y="29718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實體割離</a:t>
            </a:r>
            <a:endParaRPr lang="en-US" sz="1700" dirty="0"/>
          </a:p>
        </p:txBody>
      </p:sp>
      <p:sp>
        <p:nvSpPr>
          <p:cNvPr id="27" name="sop card 5"/>
          <p:cNvSpPr/>
          <p:nvPr/>
        </p:nvSpPr>
        <p:spPr>
          <a:xfrm>
            <a:off x="9619488" y="3520440"/>
            <a:ext cx="205740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756648" y="3657600"/>
            <a:ext cx="1783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開立大境專戶、撥付款項，終止物業、清潔、清運合約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48640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目前進度：階段二 — 本申請書送交富宇大地管委會審議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/>
          <p:nvPr>
            <p:ph idx="106" type="title" hasCustomPrompt="1"/>
          </p:nvPr>
        </p:nvSpPr>
        <p:spPr>
          <a:xfrm>
            <a:off x="548640" y="7498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對富宇大地的三大雙贏效益</a:t>
            </a:r>
            <a:endParaRPr lang="en-US" sz="2800" dirty="0"/>
          </a:p>
        </p:txBody>
      </p:sp>
      <p:sp>
        <p:nvSpPr>
          <p:cNvPr id="3" name="win card 1"/>
          <p:cNvSpPr/>
          <p:nvPr/>
        </p:nvSpPr>
        <p:spPr>
          <a:xfrm>
            <a:off x="548640" y="1645920"/>
            <a:ext cx="11091672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win icon 1"/>
          <p:cNvSpPr/>
          <p:nvPr/>
        </p:nvSpPr>
        <p:spPr>
          <a:xfrm>
            <a:off x="822960" y="192024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win icon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" y="2114550"/>
            <a:ext cx="388620" cy="3886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74520" y="1645920"/>
            <a:ext cx="2011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4"/>
                </a:solidFill>
              </a:rPr>
              <a:t>財務無損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3931920" y="1645920"/>
            <a:ext cx="7498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大境 22 萬定存原本就是獨立存單，分割不會動到大社區既有逾 760 萬元公共基金與營運大盤。</a:t>
            </a:r>
            <a:endParaRPr lang="en-US" sz="1600" dirty="0"/>
          </a:p>
        </p:txBody>
      </p:sp>
      <p:sp>
        <p:nvSpPr>
          <p:cNvPr id="8" name="win card 2"/>
          <p:cNvSpPr/>
          <p:nvPr/>
        </p:nvSpPr>
        <p:spPr>
          <a:xfrm>
            <a:off x="548640" y="3154680"/>
            <a:ext cx="11091672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win icon 2"/>
          <p:cNvSpPr/>
          <p:nvPr/>
        </p:nvSpPr>
        <p:spPr>
          <a:xfrm>
            <a:off x="822960" y="342900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win icon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270" y="3623310"/>
            <a:ext cx="388620" cy="3886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874520" y="3154680"/>
            <a:ext cx="2011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4"/>
                </a:solidFill>
              </a:rPr>
              <a:t>公設減負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3931920" y="3154680"/>
            <a:ext cx="7498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大境退出後，內部 6 桶子母車由 235 戶使用，垃圾容量更充裕、異味更少。</a:t>
            </a:r>
            <a:endParaRPr lang="en-US" sz="1600" dirty="0"/>
          </a:p>
        </p:txBody>
      </p:sp>
      <p:sp>
        <p:nvSpPr>
          <p:cNvPr id="13" name="win card 3"/>
          <p:cNvSpPr/>
          <p:nvPr/>
        </p:nvSpPr>
        <p:spPr>
          <a:xfrm>
            <a:off x="548640" y="4663440"/>
            <a:ext cx="11091672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win icon 3"/>
          <p:cNvSpPr/>
          <p:nvPr/>
        </p:nvSpPr>
        <p:spPr>
          <a:xfrm>
            <a:off x="822960" y="493776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win icon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270" y="5132070"/>
            <a:ext cx="388620" cy="3886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874520" y="4663440"/>
            <a:ext cx="2011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4"/>
                </a:solidFill>
              </a:rPr>
              <a:t>管理減壓</a:t>
            </a:r>
            <a:endParaRPr lang="en-US" sz="2100" dirty="0"/>
          </a:p>
        </p:txBody>
      </p:sp>
      <p:sp>
        <p:nvSpPr>
          <p:cNvPr id="17" name="Text 12"/>
          <p:cNvSpPr txBox="1"/>
          <p:nvPr/>
        </p:nvSpPr>
        <p:spPr>
          <a:xfrm>
            <a:off x="3931920" y="4663440"/>
            <a:ext cx="7498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物業經理無需再跨越龍社路巡查大境，巡檢範圍集中、負擔減輕。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/>
          <p:nvPr>
            <p:ph idx="106" type="title" hasCustomPrompt="1"/>
          </p:nvPr>
        </p:nvSpPr>
        <p:spPr>
          <a:xfrm>
            <a:off x="548640" y="7498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爭議防範與法律救濟途徑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08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若管委會拖延或拒不配合，大境 6 戶得行使之途徑</a:t>
            </a:r>
            <a:endParaRPr lang="en-US" sz="1600" dirty="0"/>
          </a:p>
        </p:txBody>
      </p:sp>
      <p:sp>
        <p:nvSpPr>
          <p:cNvPr id="4" name="risk card 1"/>
          <p:cNvSpPr/>
          <p:nvPr/>
        </p:nvSpPr>
        <p:spPr>
          <a:xfrm>
            <a:off x="548640" y="2011680"/>
            <a:ext cx="694944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risk icon 1"/>
          <p:cNvSpPr/>
          <p:nvPr/>
        </p:nvSpPr>
        <p:spPr>
          <a:xfrm>
            <a:off x="777240" y="2258568"/>
            <a:ext cx="685800" cy="6858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6" name="risk icon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2430018"/>
            <a:ext cx="342900" cy="3429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2121408"/>
            <a:ext cx="5623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主管機關爭議調處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691640" y="2542032"/>
            <a:ext cx="5623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依條例第 45 條向台中市政府住宅處申訴，由主管機關介入調處</a:t>
            </a:r>
            <a:endParaRPr lang="en-US" sz="1300" dirty="0"/>
          </a:p>
        </p:txBody>
      </p:sp>
      <p:sp>
        <p:nvSpPr>
          <p:cNvPr id="9" name="risk card 2"/>
          <p:cNvSpPr/>
          <p:nvPr/>
        </p:nvSpPr>
        <p:spPr>
          <a:xfrm>
            <a:off x="548640" y="3383280"/>
            <a:ext cx="694944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risk icon 2"/>
          <p:cNvSpPr/>
          <p:nvPr/>
        </p:nvSpPr>
        <p:spPr>
          <a:xfrm>
            <a:off x="777240" y="3630168"/>
            <a:ext cx="685800" cy="6858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1" name="risk icon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690" y="3801618"/>
            <a:ext cx="342900" cy="3429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691640" y="3493008"/>
            <a:ext cx="5623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民事訴訟途徑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1691640" y="3913632"/>
            <a:ext cx="5623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研究報告列《民法》第 824 條裁判分割共有物；司法判決具強制執行力</a:t>
            </a:r>
            <a:endParaRPr lang="en-US" sz="1300" dirty="0"/>
          </a:p>
        </p:txBody>
      </p:sp>
      <p:sp>
        <p:nvSpPr>
          <p:cNvPr id="14" name="risk card 3"/>
          <p:cNvSpPr/>
          <p:nvPr/>
        </p:nvSpPr>
        <p:spPr>
          <a:xfrm>
            <a:off x="548640" y="4754880"/>
            <a:ext cx="694944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risk icon 3"/>
          <p:cNvSpPr/>
          <p:nvPr/>
        </p:nvSpPr>
        <p:spPr>
          <a:xfrm>
            <a:off x="777240" y="5001768"/>
            <a:ext cx="685800" cy="6858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6" name="risk icon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690" y="5173218"/>
            <a:ext cx="342900" cy="3429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91640" y="4864608"/>
            <a:ext cx="5623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非必要公設分攤抗辯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1691640" y="5285232"/>
            <a:ext cx="5623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未受子母車之利益卻遭收取對價，依不當得利原則主張減免</a:t>
            </a:r>
            <a:endParaRPr lang="en-US" sz="1300" dirty="0"/>
          </a:p>
        </p:txBody>
      </p:sp>
      <p:sp>
        <p:nvSpPr>
          <p:cNvPr id="19" name="tax card"/>
          <p:cNvSpPr/>
          <p:nvPr/>
        </p:nvSpPr>
        <p:spPr>
          <a:xfrm>
            <a:off x="7863840" y="1508760"/>
            <a:ext cx="3776472" cy="4617720"/>
          </a:xfrm>
          <a:prstGeom prst="roundRect">
            <a:avLst>
              <a:gd name="adj" fmla="val 193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" name="tax icon"/>
          <p:cNvSpPr/>
          <p:nvPr/>
        </p:nvSpPr>
        <p:spPr>
          <a:xfrm>
            <a:off x="8092440" y="173736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tax icon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3890" y="1908810"/>
            <a:ext cx="342900" cy="3429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915400" y="173736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貨櫃屋管理室稅籍切割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8092440" y="2606040"/>
            <a:ext cx="3319272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依 8 月例會動議一，管委會發給 241 戶同意書向沙鹿稅務局申辦房屋稅籍。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分割後，A2 大境 6 戶書面通知管委會與稅務局撤回同意書。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貨櫃屋產權與稅負由剩餘 235 戶承擔，大境不再負擔營業用稅捐責任。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/>
          <p:nvPr>
            <p:ph idx="106" type="title" hasCustomPrompt="1"/>
          </p:nvPr>
        </p:nvSpPr>
        <p:spPr>
          <a:xfrm>
            <a:off x="548640" y="7498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正式提請管委會審議事項</a:t>
            </a:r>
            <a:endParaRPr lang="en-US" sz="2800" dirty="0"/>
          </a:p>
        </p:txBody>
      </p:sp>
      <p:sp>
        <p:nvSpPr>
          <p:cNvPr id="3" name="request 1"/>
          <p:cNvSpPr/>
          <p:nvPr/>
        </p:nvSpPr>
        <p:spPr>
          <a:xfrm>
            <a:off x="548640" y="182880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request 1 label"/>
          <p:cNvSpPr txBox="1"/>
          <p:nvPr/>
        </p:nvSpPr>
        <p:spPr>
          <a:xfrm>
            <a:off x="54864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69164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提案審議作業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2103120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收受申請書後，依權責列入最近一次管委會例行會議審議，確認本案法定獨立分割與專案資產清算移交。</a:t>
            </a:r>
            <a:endParaRPr lang="en-US" sz="1300" dirty="0"/>
          </a:p>
        </p:txBody>
      </p:sp>
      <p:sp>
        <p:nvSpPr>
          <p:cNvPr id="7" name="request 2"/>
          <p:cNvSpPr/>
          <p:nvPr/>
        </p:nvSpPr>
        <p:spPr>
          <a:xfrm>
            <a:off x="548640" y="329184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request 2 label"/>
          <p:cNvSpPr txBox="1"/>
          <p:nvPr/>
        </p:nvSpPr>
        <p:spPr>
          <a:xfrm>
            <a:off x="548640" y="3291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315468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資產移交與管理費提存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3566160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財務委員會先期核算定存單（220,231 元加計孳息）與交屋基金（60,000 元）之分割協議書草案；過渡期間 A2 管理費由召集人代收提存於大境專戶共管。</a:t>
            </a:r>
            <a:endParaRPr lang="en-US" sz="1300" dirty="0"/>
          </a:p>
        </p:txBody>
      </p:sp>
      <p:sp>
        <p:nvSpPr>
          <p:cNvPr id="11" name="request 3"/>
          <p:cNvSpPr/>
          <p:nvPr/>
        </p:nvSpPr>
        <p:spPr>
          <a:xfrm>
            <a:off x="548640" y="475488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request 3 label"/>
          <p:cNvSpPr txBox="1"/>
          <p:nvPr/>
        </p:nvSpPr>
        <p:spPr>
          <a:xfrm>
            <a:off x="548640" y="47548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461772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報備變更協力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5029200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雙方備齊法定公文與修訂後規約，共同向龍井區公所辦理戶數變更與富宇大境管委會成立備查。</a:t>
            </a:r>
            <a:endParaRPr lang="en-US" sz="1300" dirty="0"/>
          </a:p>
        </p:txBody>
      </p:sp>
      <p:sp>
        <p:nvSpPr>
          <p:cNvPr id="15" name="attachments card"/>
          <p:cNvSpPr/>
          <p:nvPr/>
        </p:nvSpPr>
        <p:spPr>
          <a:xfrm>
            <a:off x="7589520" y="1645920"/>
            <a:ext cx="4050792" cy="4480560"/>
          </a:xfrm>
          <a:prstGeom prst="roundRect">
            <a:avLst>
              <a:gd name="adj" fmla="val 1806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818120" y="1783080"/>
            <a:ext cx="3593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檢附附件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7818120" y="2331720"/>
            <a:ext cx="3639312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附件一｜法定獨立分割可行性研究報告書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附件二｜全區地籍配置圖暨獨立出入證明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附件三｜115 年 5、9 月會議記錄及定存財報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附件四｜共用設施無依賴切結與垃圾自行清運承諾書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全體 6 戶區權人連署立案簽章冊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osing photo ring"/>
          <p:cNvSpPr/>
          <p:nvPr/>
        </p:nvSpPr>
        <p:spPr>
          <a:xfrm>
            <a:off x="868680" y="1234440"/>
            <a:ext cx="3017520" cy="301752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2"/>
            </a:solidFill>
            <a:prstDash val="solid"/>
          </a:ln>
        </p:spPr>
      </p:sp>
      <p:pic>
        <p:nvPicPr>
          <p:cNvPr id="3" name="closing portrait" descr="報告人 廖倫豪 博士 照片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325880"/>
            <a:ext cx="2834640" cy="2834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43484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B2B"/>
                </a:solidFill>
              </a:rPr>
              <a:t>廖倫豪 博士</a:t>
            </a:r>
            <a:endParaRPr lang="en-US" sz="22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B8862D"/>
                </a:solidFill>
              </a:rPr>
              <a:t>Howard Liao Ph.D.</a:t>
            </a:r>
            <a:endParaRPr lang="en-US" sz="22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B6B6B"/>
                </a:solidFill>
              </a:rPr>
              <a:t>A17｜龍社路 595 號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4754880" y="118872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權責相符・居住自治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4754880" y="214884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懇請富宇大地社區管理委員會將本案列入例會審議，以理性協商、依法程序完成 A2 富宇大境之獨立分割與資產移交。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754880" y="34747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全體 6 戶區分所有權人共同連署</a:t>
            </a:r>
            <a:endParaRPr lang="en-US" sz="1500" dirty="0"/>
          </a:p>
        </p:txBody>
      </p:sp>
      <p:sp>
        <p:nvSpPr>
          <p:cNvPr id="8" name="household 593"/>
          <p:cNvSpPr/>
          <p:nvPr/>
        </p:nvSpPr>
        <p:spPr>
          <a:xfrm>
            <a:off x="4754880" y="4023360"/>
            <a:ext cx="210312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754880" y="40233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龍社路 593 號</a:t>
            </a:r>
            <a:endParaRPr lang="en-US" sz="1500" dirty="0"/>
          </a:p>
        </p:txBody>
      </p:sp>
      <p:sp>
        <p:nvSpPr>
          <p:cNvPr id="10" name="household 595"/>
          <p:cNvSpPr/>
          <p:nvPr/>
        </p:nvSpPr>
        <p:spPr>
          <a:xfrm>
            <a:off x="7040880" y="4023360"/>
            <a:ext cx="2103120" cy="594360"/>
          </a:xfrm>
          <a:prstGeom prst="roundRect">
            <a:avLst>
              <a:gd name="adj" fmla="val 15385"/>
            </a:avLst>
          </a:prstGeom>
          <a:solidFill>
            <a:schemeClr val="accent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040880" y="40233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龍社路 595 號</a:t>
            </a:r>
            <a:endParaRPr lang="en-US" sz="1500" dirty="0"/>
          </a:p>
        </p:txBody>
      </p:sp>
      <p:sp>
        <p:nvSpPr>
          <p:cNvPr id="12" name="household 597"/>
          <p:cNvSpPr/>
          <p:nvPr/>
        </p:nvSpPr>
        <p:spPr>
          <a:xfrm>
            <a:off x="9326880" y="4023360"/>
            <a:ext cx="210312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326880" y="40233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龍社路 597 號</a:t>
            </a:r>
            <a:endParaRPr lang="en-US" sz="1500" dirty="0"/>
          </a:p>
        </p:txBody>
      </p:sp>
      <p:sp>
        <p:nvSpPr>
          <p:cNvPr id="14" name="household 599"/>
          <p:cNvSpPr/>
          <p:nvPr/>
        </p:nvSpPr>
        <p:spPr>
          <a:xfrm>
            <a:off x="4754880" y="4800600"/>
            <a:ext cx="210312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754880" y="48006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龍社路 599 號</a:t>
            </a:r>
            <a:endParaRPr lang="en-US" sz="1500" dirty="0"/>
          </a:p>
        </p:txBody>
      </p:sp>
      <p:sp>
        <p:nvSpPr>
          <p:cNvPr id="16" name="household 601"/>
          <p:cNvSpPr/>
          <p:nvPr/>
        </p:nvSpPr>
        <p:spPr>
          <a:xfrm>
            <a:off x="7040880" y="4800600"/>
            <a:ext cx="210312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040880" y="48006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龍社路 601 號</a:t>
            </a:r>
            <a:endParaRPr lang="en-US" sz="1500" dirty="0"/>
          </a:p>
        </p:txBody>
      </p:sp>
      <p:sp>
        <p:nvSpPr>
          <p:cNvPr id="18" name="household 603"/>
          <p:cNvSpPr/>
          <p:nvPr/>
        </p:nvSpPr>
        <p:spPr>
          <a:xfrm>
            <a:off x="9326880" y="4800600"/>
            <a:ext cx="210312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326880" y="48006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龍社路 603 號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4754880" y="57607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專案編號：FY-SPLIT-2026-A2 ｜ 受託召集人：廖倫豪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uYu Gold">
  <a:themeElements>
    <a:clrScheme name="FuYu Gold">
      <a:dk1>
        <a:srgbClr val="2B2B2B"/>
      </a:dk1>
      <a:lt1>
        <a:srgbClr val="FFFFFF"/>
      </a:lt1>
      <a:dk2>
        <a:srgbClr val="6B6B6B"/>
      </a:dk2>
      <a:lt2>
        <a:srgbClr val="FFFBF0"/>
      </a:lt2>
      <a:accent1>
        <a:srgbClr val="B8862D"/>
      </a:accent1>
      <a:accent2>
        <a:srgbClr val="D9A93F"/>
      </a:accent2>
      <a:accent3>
        <a:srgbClr val="1F2A44"/>
      </a:accent3>
      <a:accent4>
        <a:srgbClr val="8C6A1F"/>
      </a:accent4>
      <a:accent5>
        <a:srgbClr val="E8D5A3"/>
      </a:accent5>
      <a:accent6>
        <a:srgbClr val="A23B2A"/>
      </a:accent6>
      <a:hlink>
        <a:srgbClr val="B8862D"/>
      </a:hlink>
      <a:folHlink>
        <a:srgbClr val="8C6A1F"/>
      </a:folHlink>
    </a:clrScheme>
    <a:fontScheme name="FuYu Gold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富宇大境（A2 區）法定獨立分割專案報告</dc:title>
  <dc:subject>FY-SPLIT-2026-A2</dc:subject>
  <dc:creator>廖倫豪 Howard Liao Ph.D.</dc:creator>
  <cp:lastModifiedBy>廖倫豪 Howard Liao Ph.D.</cp:lastModifiedBy>
  <cp:revision>1</cp:revision>
  <dcterms:created xsi:type="dcterms:W3CDTF">2026-10-05T02:58:19Z</dcterms:created>
  <dcterms:modified xsi:type="dcterms:W3CDTF">2026-10-05T02:58:19Z</dcterms:modified>
</cp:coreProperties>
</file>