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099e3809-3c69-7195-d21f-3eb2b82bec79}">
          <p14:sldIdLst>
            <p14:sldId id="256"/>
          </p14:sldIdLst>
        </p14:section>
        <p14:section name="提案總覽" id="{0fc58cc8-446c-53aa-ab11-225e9eef82d1}">
          <p14:sldIdLst>
            <p14:sldId id="257"/>
          </p14:sldIdLst>
        </p14:section>
        <p14:section name="現況體檢" id="{bbbdd8ec-79cf-6f5a-412f-3bbfc4aa5ee2}">
          <p14:sldIdLst>
            <p14:sldId id="258"/>
            <p14:sldId id="259"/>
          </p14:sldIdLst>
        </p14:section>
        <p14:section name="法令路徑" id="{311ba315-3d12-7ad8-539f-303e2f589862}">
          <p14:sldIdLst>
            <p14:sldId id="260"/>
            <p14:sldId id="261"/>
          </p14:sldIdLst>
        </p14:section>
        <p14:section name="事實與證據" id="{f8ebda61-51c8-f8d3-9d2c-4838d641dc29}">
          <p14:sldIdLst>
            <p14:sldId id="262"/>
            <p14:sldId id="263"/>
          </p14:sldIdLst>
        </p14:section>
        <p14:section name="財務試算" id="{4e42a945-f341-9324-62cd-162f4b86a3cf}">
          <p14:sldIdLst>
            <p14:sldId id="264"/>
            <p14:sldId id="265"/>
            <p14:sldId id="266"/>
          </p14:sldIdLst>
        </p14:section>
        <p14:section name="推動程序" id="{8f03e5b1-8bb3-2ca7-354f-62cbb294e044}">
          <p14:sldIdLst>
            <p14:sldId id="267"/>
            <p14:sldId id="268"/>
            <p14:sldId id="269"/>
          </p14:sldIdLst>
        </p14:section>
        <p14:section name="請求與結語" id="{631f7de4-f50c-7952-9736-054534df254a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2B2B"/>
                </a:solidFill>
                <a:latin typeface="+mn-lt"/>
              </a:rPr>
              <a:t>富宇大地六區戶數（總計 241 戶）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戶數</c:v>
                </c:pt>
              </c:strCache>
            </c:strRef>
          </c:tx>
          <c:spPr>
            <a:solidFill>
              <a:srgbClr val="D9A9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A2 大境</c:v>
                  </c:pt>
                  <c:pt idx="1">
                    <c:v>A1 上境</c:v>
                  </c:pt>
                  <c:pt idx="2">
                    <c:v>B1 好境</c:v>
                  </c:pt>
                  <c:pt idx="3">
                    <c:v>B2 悠境</c:v>
                  </c:pt>
                  <c:pt idx="4">
                    <c:v>C2 澄境</c:v>
                  </c:pt>
                  <c:pt idx="5">
                    <c:v>C1 清境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13</c:v>
                </c:pt>
                <c:pt idx="2">
                  <c:v>42</c:v>
                </c:pt>
                <c:pt idx="3">
                  <c:v>55</c:v>
                </c:pt>
                <c:pt idx="4">
                  <c:v>59</c:v>
                </c:pt>
                <c:pt idx="5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開場：我是 A2 富宇大境 A17、龍社路 595 號的區分所有權人廖倫豪，受全體 6 戶委託擔任召集人。今天說明 A2 獨立分區管理的理由、正確的法定程序與財務安排，並提出具體的協商請求。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四項基礎是事實面；法律面的關鍵在於：分區獨立需要經過富宇大地區分所有權人會議決議，後面會說明。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已是六區合併後 241 戶管理組織的一部分，受現行規約拘束；因此退出也必須透過同一個組織的決議程序。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以戶數比例試算：清運約 1,195 元、物業經理約 1,751 元，合計約 2,946 元，接近 A2 每月繳費的一半。強調我們會照常繳費，用程序解決。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分區獨立管理，須由富宇大地區分所有權人會議決議變更規約。程序正確，結果才站得住。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重點：連署是提案的基礎，生效須經全區區分所有權人會議決議。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切結書屬自我聲明，管委會與公所會要求客觀證據，建議在提案前備齊右下列文件。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此圖為社區配置示意圖，不是官方地籍圖；作為說明用，正式文件請附謄本。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分區定存是我們最有力的事實，但要誠實說明：歸屬仍需全體決議確認。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公共基金屬管委會保管，移交至大境管委會專戶，不分配到個人帳上。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$400 是樂觀初估；誠實列出尚未估價的項目，可提高可信度。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只有 6 戶，未達第 25 條請求召開臨時會的五分之一門檻，因此需要管委會協助列入議程。報備機關請先確認建物所在行政區之區公所。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決議權在 235 戶手上，簡報要讓他們看到同意對他們也有好處。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主動做出合規承諾，可以化解管委會的戒心。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三個請求都是程序性的，管委會可以在權責內同意，不需要先決定分割成不成立。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感謝聆聽，歡迎委員與住戶提問。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680000">
            <a:off x="2011680" y="26517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5">
                    <a:alpha val="30000"/>
                  </a:schemeClr>
                </a:solidFill>
              </a:rPr>
              <a:t>Howard Liao Ph.D.</a:t>
            </a:r>
            <a:endParaRPr lang="en-US" sz="6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680000">
            <a:off x="2011680" y="26517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5">
                    <a:alpha val="30000"/>
                  </a:schemeClr>
                </a:solidFill>
              </a:rPr>
              <a:t>Howard Liao Ph.D.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富宇大境（A2 區）獨立分區管理專案報告 ｜ 專案編號：FY-SPLIT-2026-A2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20116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報告人：廖倫豪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"/>
            <a:ext cx="1109167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報告人：廖倫豪 ｜ Howard Liao Ph.D.</a:t>
            </a:r>
            <a:endParaRPr lang="en-US" sz="10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專案編號 FY-SPLIT-2026-A2 ｜ 提案說明與協商建議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富宇大境（A2 區）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獨立分區管理專案報告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現況體檢 ｜ 法令路徑 ｜ 財務試算 ｜ 推動程序</a:t>
            </a:r>
            <a:endParaRPr lang="en-US" sz="1800" dirty="0"/>
          </a:p>
        </p:txBody>
      </p:sp>
      <p:sp>
        <p:nvSpPr>
          <p:cNvPr id="5" name="cover rule"/>
          <p:cNvSpPr/>
          <p:nvPr/>
        </p:nvSpPr>
        <p:spPr>
          <a:xfrm>
            <a:off x="731520" y="3703320"/>
            <a:ext cx="64008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931920"/>
          <a:ext cx="6583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303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6A1F"/>
                          </a:solidFill>
                        </a:rPr>
                        <a:t>受 文 者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富宇大地社區管理委員會（主任委員 馬士傑 先生）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6A1F"/>
                          </a:solidFill>
                        </a:rPr>
                        <a:t>提 案 人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富宇大境（A2 區）全體 6 戶區分所有權人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6A1F"/>
                          </a:solidFill>
                        </a:rPr>
                        <a:t>標的門牌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台中市沙鹿區龍社路 593～603 號（共 6 戶透天）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C6A1F"/>
                          </a:solidFill>
                        </a:rPr>
                        <a:t>報告日期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中華民國 115 年 10 月</a:t>
                      </a:r>
                      <a:endParaRPr lang="en-US" sz="1300" dirty="0"/>
                    </a:p>
                  </a:txBody>
                  <a:tcPr marL="0" marR="45720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photo ring"/>
          <p:cNvSpPr/>
          <p:nvPr/>
        </p:nvSpPr>
        <p:spPr>
          <a:xfrm>
            <a:off x="8275320" y="777240"/>
            <a:ext cx="3291840" cy="329184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8" name="portrait" descr="報告人 廖倫豪 博士 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868680"/>
            <a:ext cx="3108960" cy="3108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35240" y="425196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B2B2B"/>
                </a:solidFill>
              </a:rPr>
              <a:t>廖倫豪 博士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862D"/>
                </a:solidFill>
              </a:rPr>
              <a:t>Howard Liao Ph.D.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B6B"/>
                </a:solidFill>
              </a:rPr>
              <a:t>A2 富宇大境 A17（龍社路 595 號）區分所有權人</a:t>
            </a:r>
            <a:endParaRPr lang="en-US" sz="2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B6B"/>
                </a:solidFill>
              </a:rPr>
              <a:t>全體 6 戶受託召集人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執行摘要：A2 獨立管理的四項基礎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A2 大境在出入、生活機能與帳務上已高度獨立，建議透過區權人會議決議，以協商方式完成分區管理</a:t>
            </a:r>
            <a:endParaRPr lang="en-US" sz="1600" dirty="0"/>
          </a:p>
        </p:txBody>
      </p:sp>
      <p:sp>
        <p:nvSpPr>
          <p:cNvPr id="4" name="summary card 1"/>
          <p:cNvSpPr/>
          <p:nvPr/>
        </p:nvSpPr>
        <p:spPr>
          <a:xfrm>
            <a:off x="548640" y="210312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ummary icon 1"/>
          <p:cNvSpPr/>
          <p:nvPr/>
        </p:nvSpPr>
        <p:spPr>
          <a:xfrm>
            <a:off x="822960" y="2423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ummary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6174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出入動線獨立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戶門牌臨龍社路，日常出入不需經過 638、642、646 巷等內部巷道</a:t>
            </a:r>
            <a:endParaRPr lang="en-US" sz="1400" dirty="0"/>
          </a:p>
        </p:txBody>
      </p:sp>
      <p:sp>
        <p:nvSpPr>
          <p:cNvPr id="9" name="summary card 2"/>
          <p:cNvSpPr/>
          <p:nvPr/>
        </p:nvSpPr>
        <p:spPr>
          <a:xfrm>
            <a:off x="6231636" y="210312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summary icon 2"/>
          <p:cNvSpPr/>
          <p:nvPr/>
        </p:nvSpPr>
        <p:spPr>
          <a:xfrm>
            <a:off x="6505956" y="24231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ummary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266" y="26174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11796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生活機能自理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511796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住戶於門前等候市府垃圾車，不使用內部子母車與環保室</a:t>
            </a:r>
            <a:endParaRPr lang="en-US" sz="1400" dirty="0"/>
          </a:p>
        </p:txBody>
      </p:sp>
      <p:sp>
        <p:nvSpPr>
          <p:cNvPr id="14" name="summary card 3"/>
          <p:cNvSpPr/>
          <p:nvPr/>
        </p:nvSpPr>
        <p:spPr>
          <a:xfrm>
            <a:off x="548640" y="416052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ummary icon 3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ummary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67487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公共基金已分區定存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937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115.05.06 例會決議各區分別定存，A2 大境區定存 NT$ 220,231 元</a:t>
            </a:r>
            <a:endParaRPr lang="en-US" sz="1400" dirty="0"/>
          </a:p>
        </p:txBody>
      </p:sp>
      <p:sp>
        <p:nvSpPr>
          <p:cNvPr id="19" name="summary card 4"/>
          <p:cNvSpPr/>
          <p:nvPr/>
        </p:nvSpPr>
        <p:spPr>
          <a:xfrm>
            <a:off x="6231636" y="416052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summary icon 4"/>
          <p:cNvSpPr/>
          <p:nvPr/>
        </p:nvSpPr>
        <p:spPr>
          <a:xfrm>
            <a:off x="6505956" y="44805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summary ic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266" y="467487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11796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管理成本可大幅下降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511796" y="4937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戶透天維護單純，初估每戶月費可由 $1,000 降至約 $400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六區合併現況：A2 大境僅占全社區 2.49%</a:t>
            </a:r>
            <a:endParaRPr lang="en-US" sz="2800" dirty="0"/>
          </a:p>
        </p:txBody>
      </p:sp>
      <p:sp>
        <p:nvSpPr>
          <p:cNvPr id="3" name="chart card"/>
          <p:cNvSpPr/>
          <p:nvPr/>
        </p:nvSpPr>
        <p:spPr>
          <a:xfrm>
            <a:off x="548640" y="1600200"/>
            <a:ext cx="6766560" cy="4572000"/>
          </a:xfrm>
          <a:prstGeom prst="roundRect">
            <a:avLst>
              <a:gd name="adj" fmla="val 16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731520" y="169164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7680960" y="1600200"/>
            <a:ext cx="395935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691640"/>
            <a:ext cx="3593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862D"/>
                </a:solidFill>
              </a:rPr>
              <a:t>6 戶</a:t>
            </a:r>
            <a:endParaRPr lang="en-US" sz="44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占全社區 241 戶之 2.49%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56616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合併沿革</a:t>
            </a:r>
            <a:endParaRPr lang="en-US" sz="1700" dirty="0"/>
          </a:p>
        </p:txBody>
      </p:sp>
      <p:sp>
        <p:nvSpPr>
          <p:cNvPr id="8" name="history dot 1"/>
          <p:cNvSpPr/>
          <p:nvPr/>
        </p:nvSpPr>
        <p:spPr>
          <a:xfrm>
            <a:off x="7699248" y="4133088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402336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6A1F"/>
                </a:solidFill>
              </a:rPr>
              <a:t>原始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大境、上境、悠境、澄境 4 個獨立別墅案</a:t>
            </a:r>
            <a:endParaRPr lang="en-US" sz="1300" dirty="0"/>
          </a:p>
        </p:txBody>
      </p:sp>
      <p:sp>
        <p:nvSpPr>
          <p:cNvPr id="10" name="history dot 2"/>
          <p:cNvSpPr/>
          <p:nvPr/>
        </p:nvSpPr>
        <p:spPr>
          <a:xfrm>
            <a:off x="7699248" y="466344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455371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6A1F"/>
                </a:solidFill>
              </a:rPr>
              <a:t>115.01.24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好境、清境決議合併成立聯合管委會</a:t>
            </a:r>
            <a:endParaRPr lang="en-US" sz="1300" dirty="0"/>
          </a:p>
        </p:txBody>
      </p:sp>
      <p:sp>
        <p:nvSpPr>
          <p:cNvPr id="12" name="history dot 3"/>
          <p:cNvSpPr/>
          <p:nvPr/>
        </p:nvSpPr>
        <p:spPr>
          <a:xfrm>
            <a:off x="7699248" y="5193792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01000" y="5084064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6A1F"/>
                </a:solidFill>
              </a:rPr>
              <a:t>115.04.18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完成六區合併程序</a:t>
            </a:r>
            <a:endParaRPr lang="en-US" sz="1300" dirty="0"/>
          </a:p>
        </p:txBody>
      </p:sp>
      <p:sp>
        <p:nvSpPr>
          <p:cNvPr id="14" name="history dot 4"/>
          <p:cNvSpPr/>
          <p:nvPr/>
        </p:nvSpPr>
        <p:spPr>
          <a:xfrm>
            <a:off x="7699248" y="572414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5614416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6A1F"/>
                </a:solidFill>
              </a:rPr>
              <a:t>115.05.14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龍井區公所核准備查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成本分攤：A2 每月 $6,000 中約一半用於未使用的服務</a:t>
            </a:r>
            <a:endParaRPr lang="en-US" sz="2800" dirty="0"/>
          </a:p>
        </p:txBody>
      </p:sp>
      <p:sp>
        <p:nvSpPr>
          <p:cNvPr id="3" name="cost card 1"/>
          <p:cNvSpPr/>
          <p:nvPr/>
        </p:nvSpPr>
        <p:spPr>
          <a:xfrm>
            <a:off x="548640" y="1691640"/>
            <a:ext cx="3514039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31482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$6,000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A2 每月繳交管理費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96539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戶 × $1,000；全年 $72,000</a:t>
            </a:r>
            <a:endParaRPr lang="en-US" sz="1400" dirty="0"/>
          </a:p>
        </p:txBody>
      </p:sp>
      <p:sp>
        <p:nvSpPr>
          <p:cNvPr id="7" name="cost card 2"/>
          <p:cNvSpPr/>
          <p:nvPr/>
        </p:nvSpPr>
        <p:spPr>
          <a:xfrm>
            <a:off x="4336999" y="1691640"/>
            <a:ext cx="3514039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9879" y="1920240"/>
            <a:ext cx="31482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≈ $1,195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19879" y="274320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按戶數分攤之子母車清運費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1319" y="3291840"/>
            <a:ext cx="296539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睿豐每週 2 次 × 6 桶 × $1,000，月約 4.8 萬 × 6/241；A2 住戶未使用</a:t>
            </a:r>
            <a:endParaRPr lang="en-US" sz="1400" dirty="0"/>
          </a:p>
        </p:txBody>
      </p:sp>
      <p:sp>
        <p:nvSpPr>
          <p:cNvPr id="11" name="cost card 3"/>
          <p:cNvSpPr/>
          <p:nvPr/>
        </p:nvSpPr>
        <p:spPr>
          <a:xfrm>
            <a:off x="8125358" y="1691640"/>
            <a:ext cx="3514039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8238" y="1920240"/>
            <a:ext cx="31482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≈ $1,751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08238" y="274320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按戶數分攤之物業經理薪資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99678" y="3291840"/>
            <a:ext cx="296539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月薪 $70,350 × 6/241；經理常駐內部管理室，A2 位於最外側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undefined text"/>
          <p:cNvSpPr txBox="1"/>
          <p:nvPr/>
        </p:nvSpPr>
        <p:spPr>
          <a:xfrm>
            <a:off x="822960" y="50749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訴求重點：不是拒繳，而是讓費用與實際使用的服務相符 —— 透過合法程序調整管理範圍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法令依據：適用條文與正確程序</a:t>
            </a:r>
            <a:endParaRPr lang="en-US" sz="2800" dirty="0"/>
          </a:p>
        </p:txBody>
      </p:sp>
      <p:sp>
        <p:nvSpPr>
          <p:cNvPr id="3" name="law card 1"/>
          <p:cNvSpPr/>
          <p:nvPr/>
        </p:nvSpPr>
        <p:spPr>
          <a:xfrm>
            <a:off x="548640" y="164592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law icon 1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aw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145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6459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第 53 條｜集居地區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64592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多數各自獨立使用之建築物，共同設施之使用與管理具整體不可分性之集居地區，其管理及組織準用本條例。富宇大地六區合併即屬此一架構。</a:t>
            </a:r>
            <a:endParaRPr lang="en-US" sz="1400" dirty="0"/>
          </a:p>
        </p:txBody>
      </p:sp>
      <p:sp>
        <p:nvSpPr>
          <p:cNvPr id="8" name="law card 2"/>
          <p:cNvSpPr/>
          <p:nvPr/>
        </p:nvSpPr>
        <p:spPr>
          <a:xfrm>
            <a:off x="548640" y="315468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law icon 2"/>
          <p:cNvSpPr/>
          <p:nvPr/>
        </p:nvSpPr>
        <p:spPr>
          <a:xfrm>
            <a:off x="822960" y="342900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law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62331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74520" y="3154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第 26 條｜不適用於 A2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315468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本條規範非封閉式集居社區中「住宅與辦公、商場混合使用」之辦公、商場部分另組管委會；A2 為 6 戶純住宅透天，無法援引。</a:t>
            </a:r>
            <a:endParaRPr lang="en-US" sz="1400" dirty="0"/>
          </a:p>
        </p:txBody>
      </p:sp>
      <p:sp>
        <p:nvSpPr>
          <p:cNvPr id="13" name="law card 3"/>
          <p:cNvSpPr/>
          <p:nvPr/>
        </p:nvSpPr>
        <p:spPr>
          <a:xfrm>
            <a:off x="548640" y="466344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law icon 3"/>
          <p:cNvSpPr/>
          <p:nvPr/>
        </p:nvSpPr>
        <p:spPr>
          <a:xfrm>
            <a:off x="822960" y="493776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law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513207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4663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第 31 條｜規約變更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029200" y="466344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調整管理範圍、變更規約與分配公共基金，須由富宇大地區分所有權人會議以特別決議（或規約另定之門檻）通過。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172200"/>
            <a:ext cx="11091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第 31 條決議門檻以現行條文及本社區規約之規定為準。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推動路徑：由區分所有權人會議決議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做法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決定機關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富宇大地區分所有權人會議決議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法令依據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第 53 條集居地區架構下，依第 31 條變更規約與管理範圍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連署定位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A2 全體 6 戶連署為提案基礎，經全區特別決議通過後生效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過渡期管理費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決議生效前照常繳交富宇大地管理費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公共基金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列為協商項目，依決議與清算協議移交富宇大境管委會專戶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爭議處理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第 59 條之 1 公寓大廈爭議事件調處、律師諮詢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A2 的三項事實基礎與應補強之證據</a:t>
            </a:r>
            <a:endParaRPr lang="en-US" sz="2800" dirty="0"/>
          </a:p>
        </p:txBody>
      </p:sp>
      <p:sp>
        <p:nvSpPr>
          <p:cNvPr id="3" name="fact card 1"/>
          <p:cNvSpPr/>
          <p:nvPr/>
        </p:nvSpPr>
        <p:spPr>
          <a:xfrm>
            <a:off x="548640" y="1645920"/>
            <a:ext cx="3514039" cy="448056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fact icon 1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act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出入動線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主張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臨龍社路，不經內部私設巷道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與管理室、遊樂綠地無重疊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應補證據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6177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地籍圖謄本、使用執照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土地使用分區證明（龍社路屬計畫道路）</a:t>
            </a:r>
            <a:endParaRPr lang="en-US" sz="1400" dirty="0"/>
          </a:p>
        </p:txBody>
      </p:sp>
      <p:sp>
        <p:nvSpPr>
          <p:cNvPr id="11" name="fact card 2"/>
          <p:cNvSpPr/>
          <p:nvPr/>
        </p:nvSpPr>
        <p:spPr>
          <a:xfrm>
            <a:off x="4336999" y="1645920"/>
            <a:ext cx="3514039" cy="448056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fact icon 2"/>
          <p:cNvSpPr/>
          <p:nvPr/>
        </p:nvSpPr>
        <p:spPr>
          <a:xfrm>
            <a:off x="4611319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fact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057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79999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環保自理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611319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主張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11319" y="31089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門前等候市府垃圾車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不使用子母車與環保室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611319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應補證據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611319" y="46177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環保局清運路線證明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戶簽署之自行清運承諾書</a:t>
            </a:r>
            <a:endParaRPr lang="en-US" sz="1400" dirty="0"/>
          </a:p>
        </p:txBody>
      </p:sp>
      <p:sp>
        <p:nvSpPr>
          <p:cNvPr id="19" name="fact card 3"/>
          <p:cNvSpPr/>
          <p:nvPr/>
        </p:nvSpPr>
        <p:spPr>
          <a:xfrm>
            <a:off x="8125358" y="1645920"/>
            <a:ext cx="3514039" cy="448056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fact icon 3"/>
          <p:cNvSpPr/>
          <p:nvPr/>
        </p:nvSpPr>
        <p:spPr>
          <a:xfrm>
            <a:off x="8399678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fact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558" y="20574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68358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水電排污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8399678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主張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399678" y="31089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自來水、電力由公用幹管直供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未接社區加壓受水池或抽水設備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399678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應補證據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399678" y="46177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台水、台電戶號清冊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污水接管或化糞池竣工資料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社區配置圖：A2 大境位於龍社路南側</a:t>
            </a:r>
            <a:endParaRPr lang="en-US" sz="2800" dirty="0"/>
          </a:p>
        </p:txBody>
      </p:sp>
      <p:sp>
        <p:nvSpPr>
          <p:cNvPr id="3" name="map frame"/>
          <p:cNvSpPr/>
          <p:nvPr/>
        </p:nvSpPr>
        <p:spPr>
          <a:xfrm>
            <a:off x="548640" y="1600200"/>
            <a:ext cx="6492240" cy="459943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4" name="site map" descr="富宇大地六區配置示意圖，A2 大境位於龍社路南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6345936" cy="445312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600200"/>
          <a:ext cx="432511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182112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標的戶別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A2 大境 6 戶透天（龍社路 593–603 號）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臨接道路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直接面臨龍社路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內部巷道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日常出入不需進入 638、642、646 巷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共用設施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與管理室、流動廁所、遊樂綠地無重疊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圖資性質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23B2A"/>
                          </a:solidFill>
                        </a:rPr>
                        <a:t>社區配置示意圖；正式提案應另附地政機關核發之地籍圖謄本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公共基金現況：四區分別定存（115.09.08 例會財報）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定存專單名稱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存單本金（NT$）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A1 上境區定存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$344,300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A2 大境區定存（本專案）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$220,231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B2 悠境區定存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$918,349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C2 澄境區定存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$1,189,402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四筆總計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</a:rPr>
                        <a:t>$2,672,282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資料來源：富宇大地 115 年 5 月 6 日例會議題四決議、9 月 8 日例會新光銀行定存財報</a:t>
            </a:r>
            <a:endParaRPr lang="en-US" sz="1100" dirty="0"/>
          </a:p>
        </p:txBody>
      </p:sp>
      <p:sp>
        <p:nvSpPr>
          <p:cNvPr id="5" name="fact box"/>
          <p:cNvSpPr/>
          <p:nvPr/>
        </p:nvSpPr>
        <p:spPr>
          <a:xfrm>
            <a:off x="6949440" y="1645920"/>
            <a:ext cx="469087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fact box icon"/>
          <p:cNvSpPr/>
          <p:nvPr/>
        </p:nvSpPr>
        <p:spPr>
          <a:xfrm>
            <a:off x="717804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fact box ic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20345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01000" y="182880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8C6A1F"/>
                </a:solidFill>
              </a:rPr>
              <a:t>對 A2 有利的事實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B"/>
                </a:solidFill>
              </a:rPr>
              <a:t>市府核退之公共基金已依各區分別定存，A2 帳目可單獨辨識，清算基礎明確。</a:t>
            </a:r>
            <a:endParaRPr lang="en-US" sz="1600" dirty="0"/>
          </a:p>
        </p:txBody>
      </p:sp>
      <p:sp>
        <p:nvSpPr>
          <p:cNvPr id="9" name="caution box"/>
          <p:cNvSpPr/>
          <p:nvPr/>
        </p:nvSpPr>
        <p:spPr>
          <a:xfrm>
            <a:off x="6949440" y="4023360"/>
            <a:ext cx="4690872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caution box icon"/>
          <p:cNvSpPr/>
          <p:nvPr/>
        </p:nvSpPr>
        <p:spPr>
          <a:xfrm>
            <a:off x="7178040" y="425196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caution box ic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0" y="441198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01000" y="420624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23B2A"/>
                </a:solidFill>
              </a:rPr>
              <a:t>需經決議的事項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2B2B"/>
                </a:solidFill>
              </a:rPr>
              <a:t>「分開定存」不等於歸屬已定；公共基金屬全體區權人，移交 A2 須經區權人會議決議並簽訂清算協議。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提請協商之資產移交項目（初估約 NT$ 28 萬）</a:t>
            </a:r>
            <a:endParaRPr lang="en-US" sz="2800" dirty="0"/>
          </a:p>
        </p:txBody>
      </p:sp>
      <p:sp>
        <p:nvSpPr>
          <p:cNvPr id="3" name="asset card 1"/>
          <p:cNvSpPr/>
          <p:nvPr/>
        </p:nvSpPr>
        <p:spPr>
          <a:xfrm>
            <a:off x="548640" y="1645920"/>
            <a:ext cx="3514039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3148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NT$ 220,231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A2 大境區定存單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965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本金另加孳息｜依 115.09.08 財報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協商重點：依分區定存原則移交</a:t>
            </a:r>
            <a:endParaRPr lang="en-US" sz="1300" dirty="0"/>
          </a:p>
        </p:txBody>
      </p:sp>
      <p:sp>
        <p:nvSpPr>
          <p:cNvPr id="8" name="asset card 2"/>
          <p:cNvSpPr/>
          <p:nvPr/>
        </p:nvSpPr>
        <p:spPr>
          <a:xfrm>
            <a:off x="4336999" y="1645920"/>
            <a:ext cx="3514039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9879" y="1828800"/>
            <a:ext cx="3148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NT$ 60,000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19879" y="260604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交屋管理基金按戶比例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1319" y="3108960"/>
            <a:ext cx="2965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富宇建設 241 萬 ÷ 241 戶 × 6 戶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11319" y="3794760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協商重點：屬全體公共基金，需決議分配</a:t>
            </a:r>
            <a:endParaRPr lang="en-US" sz="1300" dirty="0"/>
          </a:p>
        </p:txBody>
      </p:sp>
      <p:sp>
        <p:nvSpPr>
          <p:cNvPr id="13" name="asset card 3"/>
          <p:cNvSpPr/>
          <p:nvPr/>
        </p:nvSpPr>
        <p:spPr>
          <a:xfrm>
            <a:off x="8125358" y="1645920"/>
            <a:ext cx="3514039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8238" y="1828800"/>
            <a:ext cx="31482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待清算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308238" y="2606040"/>
            <a:ext cx="31482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5–9 月管理費結餘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99678" y="3108960"/>
            <a:ext cx="2965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A2 繳交 30,000 元，扣除實際攤提後結算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99678" y="3794760"/>
            <a:ext cx="2965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協商重點：由監察、財務委員核算</a:t>
            </a:r>
            <a:endParaRPr lang="en-US" sz="1300" dirty="0"/>
          </a:p>
        </p:txBody>
      </p:sp>
      <p:sp>
        <p:nvSpPr>
          <p:cNvPr id="18" name="asset banner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asset banner text"/>
          <p:cNvSpPr txBox="1"/>
          <p:nvPr/>
        </p:nvSpPr>
        <p:spPr>
          <a:xfrm>
            <a:off x="822960" y="493776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移交對象為依法成立並完成報備之「富宇大境管理委員會」專戶，不由個人代收；公共基金不分配予個別住戶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獨立後自主預算試算：每戶月費初估 $400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5836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5448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收支項目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每月（NT$）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年度（NT$）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管理費收入（6 戶 × $400）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+ 2,400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+ 28,800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公共路燈與設施用電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− 400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− 4,800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行政雜支與開戶規費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− 200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− 2,400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垃圾清運（市府垃圾車）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初估盈餘（未扣右列項目）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+ 1,800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8C6A1F"/>
                          </a:solidFill>
                        </a:rPr>
                        <a:t>+ 21,600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5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初估每戶年省 $7,200（$1,000 → $400）；實際費率應於扣除右列成本後，由大境區權人會議決定。</a:t>
            </a:r>
            <a:endParaRPr lang="en-US" sz="1400" dirty="0"/>
          </a:p>
        </p:txBody>
      </p:sp>
      <p:sp>
        <p:nvSpPr>
          <p:cNvPr id="5" name="unbudgeted card"/>
          <p:cNvSpPr/>
          <p:nvPr/>
        </p:nvSpPr>
        <p:spPr>
          <a:xfrm>
            <a:off x="7498080" y="1645920"/>
            <a:ext cx="4142232" cy="4480560"/>
          </a:xfrm>
          <a:prstGeom prst="roundRect">
            <a:avLst>
              <a:gd name="adj" fmla="val 176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783080"/>
            <a:ext cx="3685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尚未列入、需另行估價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331720"/>
            <a:ext cx="368503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公共意外責任保險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依第 18 條應提列之公共基金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記帳與扣繳申報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每年區權人會議行政成本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路燈電號歸屬確認（市府或社區）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公設修繕預備金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五大推動階段</a:t>
            </a:r>
            <a:endParaRPr lang="en-US" sz="2800" dirty="0"/>
          </a:p>
        </p:txBody>
      </p:sp>
      <p:sp>
        <p:nvSpPr>
          <p:cNvPr id="3" name="sop connector"/>
          <p:cNvSpPr/>
          <p:nvPr/>
        </p:nvSpPr>
        <p:spPr>
          <a:xfrm>
            <a:off x="1280160" y="2331720"/>
            <a:ext cx="9628632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sop step 1"/>
          <p:cNvSpPr/>
          <p:nvPr/>
        </p:nvSpPr>
        <p:spPr>
          <a:xfrm>
            <a:off x="1115568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op step 1 label"/>
          <p:cNvSpPr txBox="1"/>
          <p:nvPr/>
        </p:nvSpPr>
        <p:spPr>
          <a:xfrm>
            <a:off x="1115568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內部共識與補證</a:t>
            </a:r>
            <a:endParaRPr lang="en-US" sz="1600" dirty="0"/>
          </a:p>
        </p:txBody>
      </p:sp>
      <p:sp>
        <p:nvSpPr>
          <p:cNvPr id="7" name="sop card 1"/>
          <p:cNvSpPr/>
          <p:nvPr/>
        </p:nvSpPr>
        <p:spPr>
          <a:xfrm>
            <a:off x="548640" y="3520440"/>
            <a:ext cx="20574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65760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戶連署、推選召集人；備齊地籍、水電、清運證明</a:t>
            </a:r>
            <a:endParaRPr lang="en-US" sz="1400" dirty="0"/>
          </a:p>
        </p:txBody>
      </p:sp>
      <p:sp>
        <p:nvSpPr>
          <p:cNvPr id="9" name="sop step 2"/>
          <p:cNvSpPr/>
          <p:nvPr/>
        </p:nvSpPr>
        <p:spPr>
          <a:xfrm>
            <a:off x="33832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sop step 2 label"/>
          <p:cNvSpPr txBox="1"/>
          <p:nvPr/>
        </p:nvSpPr>
        <p:spPr>
          <a:xfrm>
            <a:off x="33832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提案與溝通</a:t>
            </a:r>
            <a:endParaRPr lang="en-US" sz="1600" dirty="0"/>
          </a:p>
        </p:txBody>
      </p:sp>
      <p:sp>
        <p:nvSpPr>
          <p:cNvPr id="12" name="sop card 2"/>
          <p:cNvSpPr/>
          <p:nvPr/>
        </p:nvSpPr>
        <p:spPr>
          <a:xfrm>
            <a:off x="2816352" y="352044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EF0F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53512" y="365760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函請管委會研議，並請列入區權人會議議程</a:t>
            </a:r>
            <a:endParaRPr lang="en-US" sz="1400" dirty="0"/>
          </a:p>
        </p:txBody>
      </p:sp>
      <p:sp>
        <p:nvSpPr>
          <p:cNvPr id="14" name="sop step 3"/>
          <p:cNvSpPr/>
          <p:nvPr/>
        </p:nvSpPr>
        <p:spPr>
          <a:xfrm>
            <a:off x="5650992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op step 3 label"/>
          <p:cNvSpPr txBox="1"/>
          <p:nvPr/>
        </p:nvSpPr>
        <p:spPr>
          <a:xfrm>
            <a:off x="5650992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4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區權人會議決議</a:t>
            </a:r>
            <a:endParaRPr lang="en-US" sz="1600" dirty="0"/>
          </a:p>
        </p:txBody>
      </p:sp>
      <p:sp>
        <p:nvSpPr>
          <p:cNvPr id="17" name="sop card 3"/>
          <p:cNvSpPr/>
          <p:nvPr/>
        </p:nvSpPr>
        <p:spPr>
          <a:xfrm>
            <a:off x="5084064" y="3520440"/>
            <a:ext cx="20574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21224" y="365760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通過規約變更與管理範圍調整；簽訂清算協議</a:t>
            </a:r>
            <a:endParaRPr lang="en-US" sz="1400" dirty="0"/>
          </a:p>
        </p:txBody>
      </p:sp>
      <p:sp>
        <p:nvSpPr>
          <p:cNvPr id="19" name="sop step 4"/>
          <p:cNvSpPr/>
          <p:nvPr/>
        </p:nvSpPr>
        <p:spPr>
          <a:xfrm>
            <a:off x="7918704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op step 4 label"/>
          <p:cNvSpPr txBox="1"/>
          <p:nvPr/>
        </p:nvSpPr>
        <p:spPr>
          <a:xfrm>
            <a:off x="7918704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成立大境管委會</a:t>
            </a:r>
            <a:endParaRPr lang="en-US" sz="1600" dirty="0"/>
          </a:p>
        </p:txBody>
      </p:sp>
      <p:sp>
        <p:nvSpPr>
          <p:cNvPr id="22" name="sop card 4"/>
          <p:cNvSpPr/>
          <p:nvPr/>
        </p:nvSpPr>
        <p:spPr>
          <a:xfrm>
            <a:off x="7351776" y="3520440"/>
            <a:ext cx="20574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88936" y="365760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A2 召開區權人會議訂規約、選委員，向轄區公所報備</a:t>
            </a:r>
            <a:endParaRPr lang="en-US" sz="1400" dirty="0"/>
          </a:p>
        </p:txBody>
      </p:sp>
      <p:sp>
        <p:nvSpPr>
          <p:cNvPr id="24" name="sop step 5"/>
          <p:cNvSpPr/>
          <p:nvPr/>
        </p:nvSpPr>
        <p:spPr>
          <a:xfrm>
            <a:off x="10186416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op step 5 label"/>
          <p:cNvSpPr txBox="1"/>
          <p:nvPr/>
        </p:nvSpPr>
        <p:spPr>
          <a:xfrm>
            <a:off x="10186416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619488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接收與交接</a:t>
            </a:r>
            <a:endParaRPr lang="en-US" sz="1600" dirty="0"/>
          </a:p>
        </p:txBody>
      </p:sp>
      <p:sp>
        <p:nvSpPr>
          <p:cNvPr id="27" name="sop card 5"/>
          <p:cNvSpPr/>
          <p:nvPr/>
        </p:nvSpPr>
        <p:spPr>
          <a:xfrm>
            <a:off x="9619488" y="3520440"/>
            <a:ext cx="20574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56648" y="3657600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以管委會名義開戶接收款項，調整外包費用分攤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目前進度：階段二 —— 向管委會提出說明，並請求列入區分所有權人會議議程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對富宇大地 235 戶的雙贏效益</a:t>
            </a:r>
            <a:endParaRPr lang="en-US" sz="2800" dirty="0"/>
          </a:p>
        </p:txBody>
      </p:sp>
      <p:sp>
        <p:nvSpPr>
          <p:cNvPr id="3" name="win card 1"/>
          <p:cNvSpPr/>
          <p:nvPr/>
        </p:nvSpPr>
        <p:spPr>
          <a:xfrm>
            <a:off x="548640" y="164592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win icon 1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win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145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64592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帳務清楚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64592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A2 定存本即分區立卷，移交後不影響其他各區定存與大社區既有營運資金。</a:t>
            </a:r>
            <a:endParaRPr lang="en-US" sz="1600" dirty="0"/>
          </a:p>
        </p:txBody>
      </p:sp>
      <p:sp>
        <p:nvSpPr>
          <p:cNvPr id="8" name="win card 2"/>
          <p:cNvSpPr/>
          <p:nvPr/>
        </p:nvSpPr>
        <p:spPr>
          <a:xfrm>
            <a:off x="548640" y="315468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win icon 2"/>
          <p:cNvSpPr/>
          <p:nvPr/>
        </p:nvSpPr>
        <p:spPr>
          <a:xfrm>
            <a:off x="822960" y="34290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win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62331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74520" y="315468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公設減負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315468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A2 原本即不使用子母車與環保室，退出後內部資源全數留給 235 戶。</a:t>
            </a:r>
            <a:endParaRPr lang="en-US" sz="1600" dirty="0"/>
          </a:p>
        </p:txBody>
      </p:sp>
      <p:sp>
        <p:nvSpPr>
          <p:cNvPr id="13" name="win card 3"/>
          <p:cNvSpPr/>
          <p:nvPr/>
        </p:nvSpPr>
        <p:spPr>
          <a:xfrm>
            <a:off x="548640" y="4663440"/>
            <a:ext cx="1109167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win icon 3"/>
          <p:cNvSpPr/>
          <p:nvPr/>
        </p:nvSpPr>
        <p:spPr>
          <a:xfrm>
            <a:off x="822960" y="49377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win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513207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466344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管理聚焦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466344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物業經理無需跨越龍社路照應 A2，巡檢範圍集中、管理責任單純。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風險控管與合規承諾</a:t>
            </a:r>
            <a:endParaRPr lang="en-US" sz="2800" dirty="0"/>
          </a:p>
        </p:txBody>
      </p:sp>
      <p:sp>
        <p:nvSpPr>
          <p:cNvPr id="3" name="risk card 1"/>
          <p:cNvSpPr/>
          <p:nvPr/>
        </p:nvSpPr>
        <p:spPr>
          <a:xfrm>
            <a:off x="548640" y="1645920"/>
            <a:ext cx="5408676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risk icon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risk ic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2517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874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照常繳費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決議生效前，A2 6 戶照常繳交富宇大地管理費，避免第 21 條欠繳追訴</a:t>
            </a:r>
            <a:endParaRPr lang="en-US" sz="1400" dirty="0"/>
          </a:p>
        </p:txBody>
      </p:sp>
      <p:sp>
        <p:nvSpPr>
          <p:cNvPr id="8" name="risk card 2"/>
          <p:cNvSpPr/>
          <p:nvPr/>
        </p:nvSpPr>
        <p:spPr>
          <a:xfrm>
            <a:off x="6231636" y="1645920"/>
            <a:ext cx="5408676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risk icon 2"/>
          <p:cNvSpPr/>
          <p:nvPr/>
        </p:nvSpPr>
        <p:spPr>
          <a:xfrm>
            <a:off x="6505956" y="20574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risk ic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266" y="225171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11796" y="1874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不由個人代收公款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511796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款項一律由新成立之大境管委會專戶接收，召集人不經手</a:t>
            </a:r>
            <a:endParaRPr lang="en-US" sz="1400" dirty="0"/>
          </a:p>
        </p:txBody>
      </p:sp>
      <p:sp>
        <p:nvSpPr>
          <p:cNvPr id="13" name="risk card 3"/>
          <p:cNvSpPr/>
          <p:nvPr/>
        </p:nvSpPr>
        <p:spPr>
          <a:xfrm>
            <a:off x="548640" y="3474720"/>
            <a:ext cx="5408676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risk icon 3"/>
          <p:cNvSpPr/>
          <p:nvPr/>
        </p:nvSpPr>
        <p:spPr>
          <a:xfrm>
            <a:off x="822960" y="38862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risk ic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08051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爭議以調處解決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41605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如有爭議，依第 59 條之 1 申請市府公寓大廈爭議事件調處</a:t>
            </a:r>
            <a:endParaRPr lang="en-US" sz="1400" dirty="0"/>
          </a:p>
        </p:txBody>
      </p:sp>
      <p:sp>
        <p:nvSpPr>
          <p:cNvPr id="18" name="risk card 4"/>
          <p:cNvSpPr/>
          <p:nvPr/>
        </p:nvSpPr>
        <p:spPr>
          <a:xfrm>
            <a:off x="6231636" y="3474720"/>
            <a:ext cx="5408676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risk icon 4"/>
          <p:cNvSpPr/>
          <p:nvPr/>
        </p:nvSpPr>
        <p:spPr>
          <a:xfrm>
            <a:off x="6505956" y="38862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risk ic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266" y="408051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11796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個資與名譽保護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11796" y="41605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連署個資僅供本案使用；公開資料不具名評論任何人員</a:t>
            </a:r>
            <a:endParaRPr lang="en-US" sz="1400" dirty="0"/>
          </a:p>
        </p:txBody>
      </p:sp>
      <p:sp>
        <p:nvSpPr>
          <p:cNvPr id="23" name="risk banner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risk banner text"/>
          <p:cNvSpPr txBox="1"/>
          <p:nvPr/>
        </p:nvSpPr>
        <p:spPr>
          <a:xfrm>
            <a:off x="822960" y="544068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本案以協商與調處為原則，全程依法定程序推動，不採訴訟對抗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548640" y="7498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正式請求事項</a:t>
            </a:r>
            <a:endParaRPr lang="en-US" sz="2800" dirty="0"/>
          </a:p>
        </p:txBody>
      </p:sp>
      <p:sp>
        <p:nvSpPr>
          <p:cNvPr id="3" name="request 1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request 1 label"/>
          <p:cNvSpPr txBox="1"/>
          <p:nvPr/>
        </p:nvSpPr>
        <p:spPr>
          <a:xfrm>
            <a:off x="5486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91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列入區權人會議議程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103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請管委會將「A2 富宇大境獨立分區管理暨規約變更案」列入下次區分所有權人會議（或臨時會）議程。</a:t>
            </a:r>
            <a:endParaRPr lang="en-US" sz="1400" dirty="0"/>
          </a:p>
        </p:txBody>
      </p:sp>
      <p:sp>
        <p:nvSpPr>
          <p:cNvPr id="7" name="request 2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request 2 label"/>
          <p:cNvSpPr txBox="1"/>
          <p:nvPr/>
        </p:nvSpPr>
        <p:spPr>
          <a:xfrm>
            <a:off x="54864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54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提供財務明細與試算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5661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請財務委員會提供 A2 定存本息、交屋基金與 115 年 5–9 月收支明細，供清算協議草擬。</a:t>
            </a:r>
            <a:endParaRPr lang="en-US" sz="1400" dirty="0"/>
          </a:p>
        </p:txBody>
      </p:sp>
      <p:sp>
        <p:nvSpPr>
          <p:cNvPr id="11" name="request 3"/>
          <p:cNvSpPr/>
          <p:nvPr/>
        </p:nvSpPr>
        <p:spPr>
          <a:xfrm>
            <a:off x="548640" y="47548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request 3 label"/>
          <p:cNvSpPr txBox="1"/>
          <p:nvPr/>
        </p:nvSpPr>
        <p:spPr>
          <a:xfrm>
            <a:off x="548640" y="4754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617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成立協商小組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50292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雙方推派代表，共同研擬規約變更條文、清算協議與轄區公所報備文件。</a:t>
            </a:r>
            <a:endParaRPr lang="en-US" sz="1400" dirty="0"/>
          </a:p>
        </p:txBody>
      </p:sp>
      <p:sp>
        <p:nvSpPr>
          <p:cNvPr id="15" name="attachments card"/>
          <p:cNvSpPr/>
          <p:nvPr/>
        </p:nvSpPr>
        <p:spPr>
          <a:xfrm>
            <a:off x="7589520" y="1645920"/>
            <a:ext cx="4050792" cy="4480560"/>
          </a:xfrm>
          <a:prstGeom prst="roundRect">
            <a:avLst>
              <a:gd name="adj" fmla="val 180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178308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檢附文件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331720"/>
            <a:ext cx="363931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全體 6 戶連署書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社區配置示意圖及地籍圖謄本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115 年 5、9 月會議紀錄及定存財報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水電、清運獨立佐證資料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A2 獨立後預算試算表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photo ring"/>
          <p:cNvSpPr/>
          <p:nvPr/>
        </p:nvSpPr>
        <p:spPr>
          <a:xfrm>
            <a:off x="868680" y="1234440"/>
            <a:ext cx="3017520" cy="30175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3" name="closing portrait" descr="報告人 廖倫豪 博士 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283464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34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</a:rPr>
              <a:t>廖倫豪 博士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8862D"/>
                </a:solidFill>
              </a:rPr>
              <a:t>Howard Liao Ph.D.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</a:rPr>
              <a:t>A17｜龍社路 595 號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188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權責相符・依法協商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1488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懇請管委會協助將本案列入區分所有權人會議議程，由全體住戶在充分資訊下共同決定，讓 A2 與富宇大地各自走向更合適的管理模式。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3474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全體 6 戶區分所有權人共同連署</a:t>
            </a:r>
            <a:endParaRPr lang="en-US" sz="1500" dirty="0"/>
          </a:p>
        </p:txBody>
      </p:sp>
      <p:sp>
        <p:nvSpPr>
          <p:cNvPr id="8" name="household 593"/>
          <p:cNvSpPr/>
          <p:nvPr/>
        </p:nvSpPr>
        <p:spPr>
          <a:xfrm>
            <a:off x="4754880" y="402336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593 號</a:t>
            </a:r>
            <a:endParaRPr lang="en-US" sz="1500" dirty="0"/>
          </a:p>
        </p:txBody>
      </p:sp>
      <p:sp>
        <p:nvSpPr>
          <p:cNvPr id="10" name="household 595"/>
          <p:cNvSpPr/>
          <p:nvPr/>
        </p:nvSpPr>
        <p:spPr>
          <a:xfrm>
            <a:off x="7040880" y="402336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龍社路 595 號</a:t>
            </a:r>
            <a:endParaRPr lang="en-US" sz="1500" dirty="0"/>
          </a:p>
        </p:txBody>
      </p:sp>
      <p:sp>
        <p:nvSpPr>
          <p:cNvPr id="12" name="household 597"/>
          <p:cNvSpPr/>
          <p:nvPr/>
        </p:nvSpPr>
        <p:spPr>
          <a:xfrm>
            <a:off x="9326880" y="402336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597 號</a:t>
            </a:r>
            <a:endParaRPr lang="en-US" sz="1500" dirty="0"/>
          </a:p>
        </p:txBody>
      </p:sp>
      <p:sp>
        <p:nvSpPr>
          <p:cNvPr id="14" name="household 599"/>
          <p:cNvSpPr/>
          <p:nvPr/>
        </p:nvSpPr>
        <p:spPr>
          <a:xfrm>
            <a:off x="4754880" y="480060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599 號</a:t>
            </a:r>
            <a:endParaRPr lang="en-US" sz="1500" dirty="0"/>
          </a:p>
        </p:txBody>
      </p:sp>
      <p:sp>
        <p:nvSpPr>
          <p:cNvPr id="16" name="household 601"/>
          <p:cNvSpPr/>
          <p:nvPr/>
        </p:nvSpPr>
        <p:spPr>
          <a:xfrm>
            <a:off x="7040880" y="480060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40880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601 號</a:t>
            </a:r>
            <a:endParaRPr lang="en-US" sz="1500" dirty="0"/>
          </a:p>
        </p:txBody>
      </p:sp>
      <p:sp>
        <p:nvSpPr>
          <p:cNvPr id="18" name="household 603"/>
          <p:cNvSpPr/>
          <p:nvPr/>
        </p:nvSpPr>
        <p:spPr>
          <a:xfrm>
            <a:off x="9326880" y="4800600"/>
            <a:ext cx="210312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0" y="4800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龍社路 603 號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5760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專案編號：FY-SPLIT-2026-A2 ｜ 受託召集人：廖倫豪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Yu Gold">
  <a:themeElements>
    <a:clrScheme name="FuYu Gold">
      <a:dk1>
        <a:srgbClr val="2B2B2B"/>
      </a:dk1>
      <a:lt1>
        <a:srgbClr val="FFFFFF"/>
      </a:lt1>
      <a:dk2>
        <a:srgbClr val="6B6B6B"/>
      </a:dk2>
      <a:lt2>
        <a:srgbClr val="FFFBF0"/>
      </a:lt2>
      <a:accent1>
        <a:srgbClr val="B8862D"/>
      </a:accent1>
      <a:accent2>
        <a:srgbClr val="D9A93F"/>
      </a:accent2>
      <a:accent3>
        <a:srgbClr val="1F2A44"/>
      </a:accent3>
      <a:accent4>
        <a:srgbClr val="8C6A1F"/>
      </a:accent4>
      <a:accent5>
        <a:srgbClr val="E8D5A3"/>
      </a:accent5>
      <a:accent6>
        <a:srgbClr val="A23B2A"/>
      </a:accent6>
      <a:hlink>
        <a:srgbClr val="B8862D"/>
      </a:hlink>
      <a:folHlink>
        <a:srgbClr val="8C6A1F"/>
      </a:folHlink>
    </a:clrScheme>
    <a:fontScheme name="FuYu Gold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富宇大境（A2 區）獨立分區管理專案報告</dc:title>
  <dc:subject>FY-SPLIT-2026-A2</dc:subject>
  <dc:creator>廖倫豪 Howard Liao Ph.D.</dc:creator>
  <cp:lastModifiedBy>廖倫豪 Howard Liao Ph.D.</cp:lastModifiedBy>
  <cp:revision>1</cp:revision>
  <dcterms:created xsi:type="dcterms:W3CDTF">2026-10-05T06:59:16Z</dcterms:created>
  <dcterms:modified xsi:type="dcterms:W3CDTF">2026-10-05T06:59:16Z</dcterms:modified>
</cp:coreProperties>
</file>