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46750" y="1188720"/>
            <a:ext cx="1097280" cy="1097280"/>
          </a:xfrm>
          <a:prstGeom prst="ellipse">
            <a:avLst/>
          </a:prstGeom>
          <a:solidFill>
            <a:srgbClr val="E5B300"/>
          </a:solidFill>
          <a:ln w="25400"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10800000">
            <a:off x="3474720" y="1554480"/>
            <a:ext cx="1828800" cy="365760"/>
          </a:xfrm>
          <a:prstGeom prst="chevron">
            <a:avLst/>
          </a:prstGeom>
          <a:solidFill>
            <a:srgbClr val="FBE8D7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6888175" y="1554480"/>
            <a:ext cx="1828800" cy="365760"/>
          </a:xfrm>
          <a:prstGeom prst="chevron">
            <a:avLst/>
          </a:prstGeom>
          <a:solidFill>
            <a:srgbClr val="FBE8D7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98B19"/>
                </a:solidFill>
                <a:latin typeface="Microsoft JhengHei"/>
              </a:defRPr>
            </a:pPr>
            <a:r>
              <a:t>【 臺中市公寓大廈爭議事件調處 ｜ 管理組織合規換軌方案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524"/>
                </a:solidFill>
                <a:latin typeface="Microsoft JhengHei"/>
              </a:defRPr>
            </a:pPr>
            <a:r>
              <a:t>富宇大境 A2 區管理分流與資產移交專案報告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114800"/>
            <a:ext cx="8899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2222"/>
                </a:solidFill>
                <a:latin typeface="Microsoft JhengHei"/>
              </a:defRPr>
            </a:pPr>
            <a:r>
              <a:t>依《公寓大廈管理條例》第 53 條落實權責相符與管理最適化之雙贏方案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6590" y="4937760"/>
            <a:ext cx="3657600" cy="36576"/>
          </a:xfrm>
          <a:prstGeom prst="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16636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Microsoft JhengHei"/>
              </a:defRPr>
            </a:pPr>
            <a:r>
              <a:t>報告人 Howard Liao Ph.D.</a:t>
            </a:r>
          </a:p>
          <a:p>
            <a:pPr algn="ctr"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t>中華民國 115 年 ｜ 臺中市沙鹿區龍社路 593～603 號全體區權人代表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01 頁 共 20 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現況脈絡分析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專案背景：合併報備與透天實況脫鉤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02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關鍵洞察：富宇大地歷史上以 241 戶合併報備，但臨路 6 戶透天與內部大樓聚落管理動線本質互異。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歷史報備規模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241 戶合併報備備查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申報時間點：</a:t>
            </a:r>
            <a:r>
              <a:t>民國 115 年 5 月 14 日完成主管機關備查。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涵蓋聚落範圍：</a:t>
            </a:r>
            <a:r>
              <a:t>由大境、上境、悠境、澄境等數區複合組成。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管理體制現況：</a:t>
            </a:r>
            <a:r>
              <a:t>單一管委會統籌規約，涵蓋大樓與外圍透天。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地理空間特徵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A2 區透天獨立外緣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門牌建物坐落：</a:t>
            </a:r>
            <a:r>
              <a:t>臺中市沙鹿區龍社路 593 至 603 號共 6 戶。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地緣聚落區隔：</a:t>
            </a:r>
            <a:r>
              <a:t>位處整體基地最外側，直接面臨公有道路。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空間物理邊界：</a:t>
            </a:r>
            <a:r>
              <a:t>與封閉式大樓中庭具有明確隔絕，出入不經內部。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治理換軌契機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管理分流合理性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權責對稱訴求：</a:t>
            </a:r>
            <a:r>
              <a:t>臨路透天水電排污自理，未耗用大社區公設資源。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雙贏治理效益：</a:t>
            </a:r>
            <a:r>
              <a:t>解除物業跨路管轄負擔，大社區得以專注核心治理。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法規合法路徑：</a:t>
            </a:r>
            <a:r>
              <a:t>回歸《公寓大廈管理條例》第 53 條分流規範。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物理要件檢驗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空間特性：出入水電排污完全物理獨立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03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關鍵洞察：A2 區 6 戶面臨公有計畫道路獨立出入，無袋地問題，亦完全不依賴大社區公共設施。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交通動線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面臨龍社路公有道路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出入動線完全自主：</a:t>
            </a:r>
            <a:r>
              <a:t>每戶設有獨立鐵捲門，出門即為公有道路。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免經社區大門中庭：</a:t>
            </a:r>
            <a:r>
              <a:t>住戶車輛行人皆不穿越大社區封閉中庭。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無通行役權負擔：</a:t>
            </a:r>
            <a:r>
              <a:t>具備完整法定出入通道，客觀上絕非袋地。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水電管線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公用事業獨立直供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自來水直供直繳：</a:t>
            </a:r>
            <a:r>
              <a:t>戶戶配備獨立自來水表，各戶自繳台水帳單。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台電獨立表箱：</a:t>
            </a:r>
            <a:r>
              <a:t>各家各戶配置獨立電表，無公共水電分攤消耗。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公共設施零依賴：</a:t>
            </a:r>
            <a:r>
              <a:t>無大樓加壓馬達、受電室等附屬公設依賴。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環保排污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污水排入公共管網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獨立污水接管：</a:t>
            </a:r>
            <a:r>
              <a:t>專管排入公共排污管線，無內部化糞槽維護負擔。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生活垃圾自主清運：</a:t>
            </a:r>
            <a:r>
              <a:t>門前等候市府免費清潔隊，不進大社區環保室。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郵務信件獨立：</a:t>
            </a:r>
            <a:r>
              <a:t>中華郵政與黑貓快遞直接到府投遞，免物業代收。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條例適用性分析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法律依據：共同設施不具整體不可分性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04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關鍵洞察：第 53 條明定多數獨立建築物準用本條例之法定前提，在於「共同設施具整體不可分性」。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法理核心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第 53 條準用實質前提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法定構成要件：</a:t>
            </a:r>
            <a:r>
              <a:t>共同設施之使用與管理具有「整體不可分性」。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反面法理解釋：</a:t>
            </a:r>
            <a:r>
              <a:t>若客觀上不具不可分性，即無強行合併治理之實益。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立法意旨保障：</a:t>
            </a:r>
            <a:r>
              <a:t>避免機能獨立透天受集合住宅規約過度束縛。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客觀檢驗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A2 區設施獨立性檢驗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公設享用實況：</a:t>
            </a:r>
            <a:r>
              <a:t>6 戶未享有封閉中庭、健身房等封閉公設權益。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維護成本消耗：</a:t>
            </a:r>
            <a:r>
              <a:t>未耗用大社區電梯保養、機械車塔與警衛保全。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物理事實證明：</a:t>
            </a:r>
            <a:r>
              <a:t>水電、路徑、排污三者自成獨立封閉循環系統。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程序路徑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規約管理範圍合意修正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合法換軌途徑：</a:t>
            </a:r>
            <a:r>
              <a:t>由區分所有權人會議依第 31 條特別決議修正。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管理範圍界定：</a:t>
            </a:r>
            <a:r>
              <a:t>修正規約第二條，報備規模由 241 戶調整為 235 戶。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行政機關備查：</a:t>
            </a:r>
            <a:r>
              <a:t>決議後呈報區公所完成變更報備，程序合法周延。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治理痛點盤點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現況瓶頸：強行捆綁管理徒增行政負擔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05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關鍵洞察：維持 241 戶強行捆綁，對管委會造成跨區巡查與責任分散，對住戶形成服務不對稱民怨。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瓶頸一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跨區巡查負擔沉重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物業保全巡邏分散：</a:t>
            </a:r>
            <a:r>
              <a:t>需跨越公有道路龍社路巡邏外側透天。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安全動線重疊拉長：</a:t>
            </a:r>
            <a:r>
              <a:t>增加警衛管理盲區與人力成本浪費。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潛在民事安全責任：</a:t>
            </a:r>
            <a:r>
              <a:t>外側若生突發治安意外，徒增管委會法律風險。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瓶頸二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內部子母車容量超載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垃圾滿溢容量壓力：</a:t>
            </a:r>
            <a:r>
              <a:t>內部收費子母車容量長期緊繃不堪重負。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進出刷卡門禁維護：</a:t>
            </a:r>
            <a:r>
              <a:t>外側若進內倒垃圾，衍生磁扣管理與磨損費用。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清潔動線相互干擾：</a:t>
            </a:r>
            <a:r>
              <a:t>外部住戶頻繁進出內部中庭，影響內部安寧。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瓶頸三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權責對稱爭議與協調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費用服務不對等：</a:t>
            </a:r>
            <a:r>
              <a:t>臨路透天自理修繕，卻長期繳納大社區管理費。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大會決策焦點模糊：</a:t>
            </a:r>
            <a:r>
              <a:t>透天與大樓需求迥異，區權大會議程難以聚焦。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潛在調解訴訟風險：</a:t>
            </a:r>
            <a:r>
              <a:t>長期捆綁累積民怨，易激化對抗與行政陳情。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治理架構設計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雙贏格局：內部聚焦治理，外側自理維護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06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關鍵洞察：管理分流後，富宇大地管委會零對接負擔、零營運衝擊，公設空間 100% 回歸內部 235 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大社區效益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內部 235 戶資源釋放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公設容量完全釋放：</a:t>
            </a:r>
            <a:r>
              <a:t>內部收費子母車 100% 空間留給內部 235 戶。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物業動線聚焦中庭：</a:t>
            </a:r>
            <a:r>
              <a:t>保全專注封閉大樓門禁，巡查效率顯著提升。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管委會零交接負擔：</a:t>
            </a:r>
            <a:r>
              <a:t>A2 不另設管委會，免除公設點交與合約分立繁瑣公務。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A2 戶承諾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外側 6 戶自主維護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門前垃圾定時自理：</a:t>
            </a:r>
            <a:r>
              <a:t>承諾自願放棄內部子母車，自候清潔隊垃圾車。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公共照明自主維護：</a:t>
            </a:r>
            <a:r>
              <a:t>門前壁燈水溝自行修繕，大社區 0 元支出。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恪遵社區外觀整潔：</a:t>
            </a:r>
            <a:r>
              <a:t>維持立面整潔自律，共同維護富宇優質品牌。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財務保全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大社區老本分毫未損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專案款項獨立列卷：</a:t>
            </a:r>
            <a:r>
              <a:t>退還之新光定存自始專單保管，非日常營運款。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營運資金水位充沛：</a:t>
            </a:r>
            <a:r>
              <a:t>大社區數百萬元公共基金老本 100% 完好保全。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零財務衝擊移交：</a:t>
            </a:r>
            <a:r>
              <a:t>結算純屬專款原單歸位，確保雙方財務權益。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財務結算基準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財務審計：專款原單專案歸位 280,231 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07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關鍵洞察：管委會官方財報客觀載明：新光定存單本金 220,231 元自始獨立保管，加上交屋款合計 280,231 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資產項目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新光銀行 A2 專單定存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本金客觀憑證：</a:t>
            </a:r>
            <a:r>
              <a:t>管委會例會財報載明第 2 筆專單本金 NT$ 220,231 元。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資金來源緣由：</a:t>
            </a:r>
            <a:r>
              <a:t>臺中市政府核退公款，按區分單獨立卷保管。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法定孳息計算：</a:t>
            </a:r>
            <a:r>
              <a:t>存單自存入日起至解約日之利息，依銀行結算實額為準。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資產項目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起造人交屋管理基金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起造人提撥款項：</a:t>
            </a:r>
            <a:r>
              <a:t>富宇建設交屋時每戶提撥 10,000 元管理基金。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A2 區應得份額：</a:t>
            </a:r>
            <a:r>
              <a:t>6 戶累計提撥新臺幣 60,000 元整。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公設消耗實況：</a:t>
            </a:r>
            <a:r>
              <a:t>自交屋以來未實質分攤 A2 區日常消耗，應專案歸位。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審計試算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基準總額 280,231 元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客觀本金加總：</a:t>
            </a:r>
            <a:r>
              <a:t>220,231 元 ＋ 60,000 元 ＝ 280,231 元整。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作廢歷史誤算：</a:t>
            </a:r>
            <a:r>
              <a:t>全面廢止 284,731 元及每戶 47,455 元等誤植推算。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專戶移交接收：</a:t>
            </a:r>
            <a:r>
              <a:t>款項全數匯入 6 戶共管專戶，專門用於外側公設支出。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協商策略評估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談判策略：三級財務和解方案設計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08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關鍵洞察：預判管委會可能提出之合約公攤扣抵抗辯，設計兼顧原則與彈性之談判區間。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方案 A：最優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全額返還 280,231 元＋利息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談判核心論述：</a:t>
            </a:r>
            <a:r>
              <a:t>定存與交屋基金全數返還，A2 簽切結免除大社區修繕責任。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財務移交總額：</a:t>
            </a:r>
            <a:r>
              <a:t>NT$ 280,231 元 ＋ 銀行實結法定孳息。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達成和解條件：</a:t>
            </a:r>
            <a:r>
              <a:t>管委會充分理解雙贏效益且認同 A2 過去公設零耗用事實。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方案 B：合理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調處和解 255,000 元（推薦）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談判核心論述：</a:t>
            </a:r>
            <a:r>
              <a:t>提撥交屋基金約 2.5 萬，補貼過渡期物業合約行政公攤。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財務移交總額：</a:t>
            </a:r>
            <a:r>
              <a:t>NT$ 255,000 元整（扣抵折讓約 25,231 元）。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調處促成效益：</a:t>
            </a:r>
            <a:r>
              <a:t>提供管委會行政下台階，在調處委員會上最易取得共識和解。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方案 C：底線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底線保全 220,231 元定存單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談判核心論述：</a:t>
            </a:r>
            <a:r>
              <a:t>交屋款 6 萬全數折抵歷史公共消耗，堅守新光定存單本金。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財務移交總額：</a:t>
            </a:r>
            <a:r>
              <a:t>NT$ 220,231 元整（新光銀行專單本金）。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底線防禦機制：</a:t>
            </a:r>
            <a:r>
              <a:t>確保市府核退之原專單公款 100% 完整保全回歸專戶。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資金防弊機制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資產安全：雙人簽章共管專戶嚴防私用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09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關鍵洞察：6 戶共同簽訂《專款共管協議書》，資金專門用於門前公共路燈維護，嚴禁流入個人帳戶。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專戶架構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設立雙人共同簽章專戶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金融專戶開立：</a:t>
            </a:r>
            <a:r>
              <a:t>由全體 6 戶合意於指定行庫開立「共管專款專戶」。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雙人簽章制衡：</a:t>
            </a:r>
            <a:r>
              <a:t>推舉召集人廖倫豪（保管存簿）與鄰居代表（保管印鑑）。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動支嚴謹規範：</a:t>
            </a:r>
            <a:r>
              <a:t>任何單筆支出超過千元，均須全體過半數書面同意。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權限排除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嚴格排除個人代收處分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委任條款防弊：</a:t>
            </a:r>
            <a:r>
              <a:t>特別委任書白紙黑字明定「受任人絕無個人代收公款權限」。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款項直撥專戶：</a:t>
            </a:r>
            <a:r>
              <a:t>管委會結算返還款項一律直接電匯專戶，杜絕挪用疑慮。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私權處分排除：</a:t>
            </a:r>
            <a:r>
              <a:t>委任範圍嚴格排除任何不動產或物權變動，保障全體委任人。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年度查帳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定期結算財務透明報告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年度定期造冊：</a:t>
            </a:r>
            <a:r>
              <a:t>每年底編製收支決算清冊，送達全體 6 戶查核。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單據完整憑證：</a:t>
            </a:r>
            <a:r>
              <a:t>所有門前修繕與路燈更換發票，全數歸檔備查。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繼受效力拘束：</a:t>
            </a:r>
            <a:r>
              <a:t>房屋產權若出售移轉，繼受人一體適用共管協議規範。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日常營運模式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自理承諾：回歸獨立透天自律生活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10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關鍵洞察：不另成立新管委會，免選委員、免開大會，各戶門前自律管理，生活最輕鬆自在。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公共照明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路燈與維護自治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公有道路路燈：</a:t>
            </a:r>
            <a:r>
              <a:t>龍社路公有路燈電費由市府公帑直接支應。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門前壁燈照明：</a:t>
            </a:r>
            <a:r>
              <a:t>各戶門前壁燈接自自家電表，夜間自律啟閉照明。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公共側溝疏通：</a:t>
            </a:r>
            <a:r>
              <a:t>各戶負責各自門口側溝落葉清疏，常保排水通暢。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生活廢棄物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門前等候免費垃圾車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市府清潔隊清運：</a:t>
            </a:r>
            <a:r>
              <a:t>生活垃圾門前等候環保局免費垃圾車清運。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資源回收分類：</a:t>
            </a:r>
            <a:r>
              <a:t>定時定點配合資源回收車清運，習慣良好自律。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放棄內部子母車：</a:t>
            </a:r>
            <a:r>
              <a:t>簽署承諾書自願放棄大樓收費子母車，為大社區減負。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行政減負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零管委會行政包袱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免召開區權會：</a:t>
            </a:r>
            <a:r>
              <a:t>無繁瑣大會會議程序與鄰里管委會選舉紛爭。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免財務報稅申報：</a:t>
            </a:r>
            <a:r>
              <a:t>無管委會稅籍登記與營所稅扣繳繁雜行政。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無管理費負擔：</a:t>
            </a:r>
            <a:r>
              <a:t>告別每月管理費支出，修繕公款由共管專戶利息充裕支應。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整體實施路徑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推動路徑：依法循理換軌之五階段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11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關鍵洞察：從內部共識連署到市府調處、大會議決，最終完成主管機關備查與專款移交。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階段一 ➔ 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內部連署與帳冊調閱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階段一：</a:t>
            </a:r>
            <a:r>
              <a:t>6 戶完成特別委任書與共管協議簽章，凝聚 100% 法律授權。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階段二：</a:t>
            </a:r>
            <a:r>
              <a:t>依第 35 條行使閱覽權，向管委會調取 5/6 會議紀錄與定存原本憑證。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階段三 ➔ 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市府調處與大會排審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階段三：</a:t>
            </a:r>
            <a:r>
              <a:t>向臺中市政府都發局申請調處，借重專家委員促成排審協議。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階段四：</a:t>
            </a:r>
            <a:r>
              <a:t>管委會依協議排入區權大會，依第 31 條或第 32 條完成規約修正決議。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階段五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公所報備與資金移交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階段五(上)：</a:t>
            </a:r>
            <a:r>
              <a:t>檢附大會紀錄向區公所申報變更報備，核發新備查函。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階段五(下)：</a:t>
            </a:r>
            <a:r>
              <a:t>管委會會同解約新光定存單，專案款項匯入雙人簽章共管專戶。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授權效力檢驗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階段一：特別委任確立法務授權無瑕疵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12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關鍵洞察：委任書依民法 §528、§534 擬定，共有戶全員簽署，授權權限界限分明、保障完備。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授權依據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民法特別委任法定憑據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民法委任法理：</a:t>
            </a:r>
            <a:r>
              <a:t>依第 528 條與第 534 條特別授權代理人出席協商與調處。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明確代理範圍：</a:t>
            </a:r>
            <a:r>
              <a:t>授權出席市府爭議調處會議、協商移交方案及和解簽署。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期限與終止權：</a:t>
            </a:r>
            <a:r>
              <a:t>明定委任期限為期 1 年，並賦予委任人隨時終止權利。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共有權人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共有持分全員簽署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產權查核落實：</a:t>
            </a:r>
            <a:r>
              <a:t>建物謄本若為夫妻或親屬聯名共有，全體共有人均須簽章。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避免補件駁回：</a:t>
            </a:r>
            <a:r>
              <a:t>防止行政審查機關以「共有人意思表示不完整」為由要求補正。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確保 100% 法律效力：</a:t>
            </a:r>
            <a:r>
              <a:t>6 戶全員完成親筆簽署捺印，全案具備堅不可摧之合法性。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個資安全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個資保護與禁複委任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個資專款專用：</a:t>
            </a:r>
            <a:r>
              <a:t>住戶簽署資料僅限本案行政調處使用，嚴禁對外公開散布。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禁止複委任條款：</a:t>
            </a:r>
            <a:r>
              <a:t>代理人必須親自處理本案，不得任意複委任第三人處理。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定期報告義務：</a:t>
            </a:r>
            <a:r>
              <a:t>代理人對談判進展與調處筆錄內容，負有全體報告之義務。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證據蒐集作業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階段二：行使第 35 條調取官方帳冊原本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13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關鍵洞察：依第 35 條正式發函調閱會議紀錄與定存單原本，確保調處所用證據具備官方公信力。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法定權利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第 35 條法定利害關係人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條例第 35 條明定：</a:t>
            </a:r>
            <a:r>
              <a:t>利害關係人得請求閱覽或影印規約、會議紀錄與財務報表。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管委會法定責任：</a:t>
            </a:r>
            <a:r>
              <a:t>管理委員會不得無故規避或拒絕，具備行政強制力依據。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正式公文行文：</a:t>
            </a:r>
            <a:r>
              <a:t>以正式存證或書面公文檢附委任證明送達管委會受領。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調閱標的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四大關鍵證物原本清冊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標的一：</a:t>
            </a:r>
            <a:r>
              <a:t>115 年 5 月 6 日第二屆管委會例行會議紀錄全份原本。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標的二：</a:t>
            </a:r>
            <a:r>
              <a:t>115 年 9 月份財務收支明細表及新光銀行分區定存存根影本。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標的三：</a:t>
            </a:r>
            <a:r>
              <a:t>現行向主管機關報備生效之《富宇大地社區規約》全份原本。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標的四：</a:t>
            </a:r>
            <a:r>
              <a:t>115 年 5 月 14 日 241 戶合併報備核准函及建築物配置清冊原本。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訴訟準備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排除瑕疵私製爭議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杜絕自製摘要疑慮：</a:t>
            </a:r>
            <a:r>
              <a:t>以管委會用印之官方紀錄為憑，瓦解對方證據抗辯。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查證歷史日期矛盾：</a:t>
            </a:r>
            <a:r>
              <a:t>釐清 5/6 例會日期與 5/14 報備日期之先後關係真相。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確認核備公所管轄：</a:t>
            </a:r>
            <a:r>
              <a:t>確認究竟為沙鹿區或龍井區公所備查，確保公文準確性。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調處策略定位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階段三：調處為促成大會排案之關鍵協商工具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14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關鍵洞察：調處委員會非取代區權會之捷徑，而是讓管委會同意將規約修正案排入大會之法律槓桿。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法理本質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調處筆錄之法律效力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政府得組設非應設：</a:t>
            </a:r>
            <a:r>
              <a:t>第 59 條之 1 授權市府「得」組設爭議調處委員會。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相當於和解契約：</a:t>
            </a:r>
            <a:r>
              <a:t>調處成立不具法院確定判決之執行力，實質為法定和解合約。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不能取代區權會：</a:t>
            </a:r>
            <a:r>
              <a:t>區公所變更報備審查，法定必備區分所有權人會議紀錄原本。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調處目標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聚焦管委會法定權限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目標一：</a:t>
            </a:r>
            <a:r>
              <a:t>促成管委會承諾於下次大會正式提出「修正規約第二條」議案。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目標二：</a:t>
            </a:r>
            <a:r>
              <a:t>確認 A2 定存單 220,231 元自始專單之歸屬與處理方式。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目標三：</a:t>
            </a:r>
            <a:r>
              <a:t>協商交屋款 60,000 元之結算扣抵方案，消除雙方對抗誤解。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專家公信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化解委員個人法律責任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官方平台認證：</a:t>
            </a:r>
            <a:r>
              <a:t>在市府法制與建管專家見證下做成筆錄，管委會免擔背信罵名。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雙贏互惠背書：</a:t>
            </a:r>
            <a:r>
              <a:t>由調處委員確認管理分流對 235 戶內部治理之實質減負效益。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順暢推進大會：</a:t>
            </a:r>
            <a:r>
              <a:t>為大會投票建立充分法理支持與理性溝通基礎。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大會決議分析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階段四：區權大會規約修正案之法定決議門檻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15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關鍵洞察：變更管理範圍屬於規約變更，必須依第 31 條特別決議通過；必要時依第 32 條重新召集。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第 31 條特別決議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大會首次開會特別門檻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法定出席門檻：</a:t>
            </a:r>
            <a:r>
              <a:t>區分所有權人 2/3 以上出席（全社區 241 戶需 161 戶出席）。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法定表決門檻：</a:t>
            </a:r>
            <a:r>
              <a:t>出席人數 3/4 以上同意（161 戶出席時需 121 戶同意）。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溝通訴求策略：</a:t>
            </a:r>
            <a:r>
              <a:t>向大樓住戶訴求「子母車容量專用＋跨路巡查責任免除」。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第 32 條重新召集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流會重行召集減免門檻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重新召集條件：</a:t>
            </a:r>
            <a:r>
              <a:t>第 31 條大會因出席人數不足流會時，得就同議案重行召集。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大幅降低出席率：</a:t>
            </a:r>
            <a:r>
              <a:t>全體區權人 1/5 以上出席（241 戶僅需 49 戶出席）。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大幅降低過半數：</a:t>
            </a:r>
            <a:r>
              <a:t>出席人數過半數同意即告通過決議（49 戶出席僅需 25 票）。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合規性確保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決議內容依法送達備查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會議紀錄造冊：</a:t>
            </a:r>
            <a:r>
              <a:t>會後 15 日內送達全體區分所有權人並於社區公告欄公告。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無異議確定機制：</a:t>
            </a:r>
            <a:r>
              <a:t>依第 32 條第二項未受反對意見書面撤銷，決議即告確定。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行政報備完備：</a:t>
            </a:r>
            <a:r>
              <a:t>備齊大會出缺席簽冊與紀錄原本，符合公所變更報備要求。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行政備查移交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階段五：公所變更報備備查與專案資金移交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16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關鍵洞察：檢附大會會議紀錄向區公所申報變更管理範圍，並同步辦理新光定存單解約交割。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行政報備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主管機關變更報備核發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送件受理機關：</a:t>
            </a:r>
            <a:r>
              <a:t>沙鹿區（或龍井區）公所公寓大廈管理業務主管單位。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法定應備文件：</a:t>
            </a:r>
            <a:r>
              <a:t>大會紀錄、修正後規約第二條條文、區權人出席簽冊、自主檢查表。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公所正式發函：</a:t>
            </a:r>
            <a:r>
              <a:t>主管機關核發新管理組織報備證明，戶數正式定錨為 235 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銀行解約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新光銀行定存單解約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公文核備依據：</a:t>
            </a:r>
            <a:r>
              <a:t>管委會憑公所核准變更備查公函，符合銀行公款解約之內控合規。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雙方共同簽署：</a:t>
            </a:r>
            <a:r>
              <a:t>主委會同 A2 代理人至新光銀行辦理專案定存單解約用印。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利息實核計算：</a:t>
            </a:r>
            <a:r>
              <a:t>結算自開戶至解約日之實存利息，專單清冊分明。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專戶接收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全款電匯入共管專戶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專戶受款歸位：</a:t>
            </a:r>
            <a:r>
              <a:t>結算後款項全額電匯入「A2 區雙人簽章共管專戶」。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簽立交割收據：</a:t>
            </a:r>
            <a:r>
              <a:t>代理人代表簽署清算結案收據，雙方管理權責劃清、和平分流。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專案公文存檔：</a:t>
            </a:r>
            <a:r>
              <a:t>全卷調處書、會議紀錄、公所備查函、銀行水單永久立卷備查。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法律風控檢驗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風險評估：產權謄本持分查核與法務因應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17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關鍵洞察：送件前調閱 6 戶建物與土地謄本，確認是否持有內部私設道路或公設之共有持分。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持分態樣分析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內部道路法定空地共有持分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查核關鍵指標：</a:t>
            </a:r>
            <a:r>
              <a:t>6 戶土地謄本是否包含社區內部私設通道或警衛室土地持分。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情境 A（無持分）：</a:t>
            </a:r>
            <a:r>
              <a:t>各自獨立單獨所有，第 53 條不可分性抗辯 100% 成立。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情境 B（有持分）：</a:t>
            </a:r>
            <a:r>
              <a:t>管委會可能主張土地共有牽連，需主張實質使用物理不可分性。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共有人簽署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共有權人委任意思完整性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夫妻親友聯名戶：</a:t>
            </a:r>
            <a:r>
              <a:t>逐一核對謄本所有權人清冊，確認每一名共有人均簽委任書。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防範行政補件：</a:t>
            </a:r>
            <a:r>
              <a:t>杜絕調處會審查委員以民法第 819 條共有物處分規定提出質疑。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實體法律效力：</a:t>
            </a:r>
            <a:r>
              <a:t>確保代表人在調處會上的和解發言權具備全體共有人法定追認。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電詢要點確認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致電都發局住宅處事前確認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電詢重點一：</a:t>
            </a:r>
            <a:r>
              <a:t>確認調處會是否受理「第 53 條管理範圍爭議」之申請案。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電詢重點二：</a:t>
            </a:r>
            <a:r>
              <a:t>確認送件申請書格式版本、應備身分證明文件與規費繳納標準。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電詢重點三：</a:t>
            </a:r>
            <a:r>
              <a:t>確認目前負責富宇大地轄區爭議事件之業務承辦股室與人員。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後續因應路徑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備案因應：二軌與三軌推進路徑勝算分析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18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關鍵洞察：若調處不成立，依序啟動區權大會住戶連署召集路徑，並以民事訴訟為最後實體防線。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第一軌（主推）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市府調處 ➔ 大會排審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程序推動方式：</a:t>
            </a:r>
            <a:r>
              <a:t>調處協議排入下次例行區權大會審議規約第二條修正案。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預估推動期程：</a:t>
            </a:r>
            <a:r>
              <a:t>約 3～6 個月，程序合法性最完備、行政抗力最低。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勝算效益評估：</a:t>
            </a:r>
            <a:r>
              <a:t>勝算最高（85%），雙方握手言和、建立社區理性治理典範。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第二軌（備案）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§25 臨時大會連署召集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程序推動方式：</a:t>
            </a:r>
            <a:r>
              <a:t>依第 25 條由全社區 1/5 區權人（約 49 戶）連署請求召集大會。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法規應急機制：</a:t>
            </a:r>
            <a:r>
              <a:t>若主委拒絕召開，得報請區公所指定 A2 召集人召開臨時會。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勝算效益評估：</a:t>
            </a:r>
            <a:r>
              <a:t>勝算中等（60%），需跨區向友善大樓住戶連署拉票。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第三軌（司法）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民事訴訟確認管理權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程序推動方式：</a:t>
            </a:r>
            <a:r>
              <a:t>提起「確認管理權不存在之訴」或依民法第 821 條返還定存公款。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訴訟風險代價：</a:t>
            </a:r>
            <a:r>
              <a:t>需耗時 1～2 年審理，並支出律師費與訴訟規費，易撕裂鄰里關係。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勝算效益評估：</a:t>
            </a:r>
            <a:r>
              <a:t>勝算優勢（70%），但耗時費力，列為最後實體防線、備而不用。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12510" y="301752"/>
            <a:ext cx="365760" cy="164592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B19"/>
                </a:solidFill>
                <a:latin typeface="Microsoft JhengHei"/>
              </a:defRPr>
            </a:pPr>
            <a:r>
              <a:t>◈ 專案戰略價值 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87524"/>
                </a:solidFill>
                <a:latin typeface="Microsoft JhengHei"/>
              </a:defRPr>
            </a:pPr>
            <a:r>
              <a:t>效益總結：去中心化管理之全社區雙贏格局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19 頁 共 20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00">
                <a:solidFill>
                  <a:srgbClr val="666666"/>
                </a:solidFill>
                <a:latin typeface="Microsoft JhengHei"/>
              </a:defRPr>
            </a:pPr>
            <a:r>
              <a:t>富宇大境 A2 區管理分流專案 ｜ Howard Liao Ph.D.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6532D"/>
                </a:solidFill>
                <a:latin typeface="Microsoft JhengHei"/>
              </a:defRPr>
            </a:pPr>
            <a:r>
              <a:t>💡 關鍵洞察：管理分流非搞分裂，而是回歸各聚落物理特性，落實權責相符、成本精準與資源最適化。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23818" cy="502920"/>
          </a:xfrm>
          <a:prstGeom prst="round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管委會減負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行政效能顯著提升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責任邊界清楚釐定：</a:t>
            </a:r>
            <a:r>
              <a:t>解除外側跨路民事安全與巡查顧慮，責任 100% 聚焦內部。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公設資源完整歸位：</a:t>
            </a:r>
            <a:r>
              <a:t>內部收費子母車容量與中庭資源全數回饋封閉聚落住戶。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財務老本毫髮無傷：</a:t>
            </a:r>
            <a:r>
              <a:t>專單原案專款歸位，大社區數百萬公共基金未受絲毫侵蝕。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2286000"/>
            <a:ext cx="3423818" cy="502920"/>
          </a:xfrm>
          <a:prstGeom prst="roundRect">
            <a:avLst/>
          </a:prstGeom>
          <a:solidFill>
            <a:srgbClr val="D98B19"/>
          </a:solidFill>
          <a:ln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透天戶自律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獨立生活自主自在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零管委會紛擾包袱：</a:t>
            </a:r>
            <a:r>
              <a:t>免選委員、免開馬拉松大會、免做繁雜財務申報。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生活支出合宜精準：</a:t>
            </a:r>
            <a:r>
              <a:t>門前路燈與垃圾清運自理，每戶每年現省數萬元管理費負擔。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公共基金專款專用：</a:t>
            </a:r>
            <a:r>
              <a:t>共管專戶利息充裕支應門前零星修繕，維護透天街廓品質。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2286000"/>
            <a:ext cx="3423818" cy="3977639"/>
          </a:xfrm>
          <a:prstGeom prst="roundRect">
            <a:avLst/>
          </a:prstGeom>
          <a:solidFill>
            <a:srgbClr val="FAF9F6"/>
          </a:solidFill>
          <a:ln w="12700">
            <a:solidFill>
              <a:srgbClr val="E2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6356" y="2286000"/>
            <a:ext cx="3423818" cy="502920"/>
          </a:xfrm>
          <a:prstGeom prst="roundRect">
            <a:avLst/>
          </a:prstGeom>
          <a:solidFill>
            <a:srgbClr val="B6532D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社區治理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948" y="2880360"/>
            <a:ext cx="3094634" cy="324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2222"/>
                </a:solidFill>
                <a:latin typeface="Microsoft JhengHei"/>
              </a:defRPr>
            </a:pPr>
            <a:r>
              <a:t>創立台中社區治理典範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依法合規理性協商：</a:t>
            </a:r>
            <a:r>
              <a:t>恪遵條例第 53、31、59-1 條規範，掃除對抗誇大言詞。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調處化解紛爭示範：</a:t>
            </a:r>
            <a:r>
              <a:t>證明透過爭議調處平台能有效解套複合式社區捆綁難題。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Microsoft JhengHei"/>
              </a:defRPr>
            </a:pPr>
            <a:r>
              <a:rPr b="1">
                <a:solidFill>
                  <a:srgbClr val="222222"/>
                </a:solidFill>
              </a:rPr>
              <a:t>• 雙贏互利共創價值：</a:t>
            </a:r>
            <a:r>
              <a:t>大社區專注大樓治理、透天區落實自治，彼此共好共榮。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546750" y="1188720"/>
            <a:ext cx="1097280" cy="1005840"/>
          </a:xfrm>
          <a:prstGeom prst="triangle">
            <a:avLst/>
          </a:prstGeom>
          <a:solidFill>
            <a:srgbClr val="FBE8D7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1070" y="777240"/>
            <a:ext cx="548640" cy="548640"/>
          </a:xfrm>
          <a:prstGeom prst="ellipse">
            <a:avLst/>
          </a:prstGeom>
          <a:solidFill>
            <a:srgbClr val="E5B300"/>
          </a:solidFill>
          <a:ln>
            <a:solidFill>
              <a:srgbClr val="B6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87524"/>
                </a:solidFill>
                <a:latin typeface="Microsoft JhengHei"/>
              </a:defRPr>
            </a:pPr>
            <a:r>
              <a:t>攜手落實合意分流 ｜ 共創富宇大地新局面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2222"/>
                </a:solidFill>
                <a:latin typeface="Microsoft JhengHei"/>
              </a:defRPr>
            </a:pPr>
            <a:r>
              <a:t>以法理為準繩，以理性化解歧見，共創權責相符、管理最適化之雙贏治理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749039"/>
            <a:ext cx="8168335" cy="1463040"/>
          </a:xfrm>
          <a:prstGeom prst="roundRect">
            <a:avLst/>
          </a:prstGeom>
          <a:solidFill>
            <a:srgbClr val="FAF9F6"/>
          </a:solidFill>
          <a:ln w="19050">
            <a:solidFill>
              <a:srgbClr val="D9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B6532D"/>
                </a:solidFill>
                <a:latin typeface="Microsoft JhengHei"/>
              </a:defRPr>
            </a:pPr>
            <a:r>
              <a:t>🚀 即刻啟動後續行動計畫</a:t>
            </a:r>
          </a:p>
          <a:p>
            <a:pPr algn="ctr">
              <a:defRPr sz="1300">
                <a:solidFill>
                  <a:srgbClr val="222222"/>
                </a:solidFill>
                <a:latin typeface="Microsoft JhengHei"/>
              </a:defRPr>
            </a:pPr>
            <a:r>
              <a:t>① 6 戶完成 01 申請書、03 委任書、04 共管協議書親筆簽署</a:t>
            </a:r>
          </a:p>
          <a:p>
            <a:pPr algn="ctr">
              <a:defRPr sz="1300">
                <a:solidFill>
                  <a:srgbClr val="222222"/>
                </a:solidFill>
                <a:latin typeface="Microsoft JhengHei"/>
              </a:defRPr>
            </a:pPr>
            <a:r>
              <a:t>② 致電臺中市都發局住宅處確認應備要件 ➔ 正式掛件申請爭議調處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94960"/>
            <a:ext cx="7619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2222"/>
                </a:solidFill>
                <a:latin typeface="Microsoft JhengHei"/>
              </a:defRPr>
            </a:pPr>
            <a:r>
              <a:t>報告人 Howard Liao Ph.D.</a:t>
            </a:r>
          </a:p>
          <a:p>
            <a:pPr algn="ctr">
              <a:defRPr sz="1300">
                <a:solidFill>
                  <a:srgbClr val="666666"/>
                </a:solidFill>
                <a:latin typeface="Microsoft JhengHei"/>
              </a:defRPr>
            </a:pPr>
            <a:r>
              <a:t>住戶溝通與交流：LINE ID: howardliao ｜ 竭誠為您解說公文條文與調處進度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666666"/>
                </a:solidFill>
                <a:latin typeface="Microsoft JhengHei"/>
              </a:defRPr>
            </a:pPr>
            <a:r>
              <a:t>第 20 頁 共 20 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