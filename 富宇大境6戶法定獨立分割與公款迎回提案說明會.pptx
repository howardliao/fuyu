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【Slide 1 講者開場口述重點（廖倫豪）】</a:t>
            </a:r>
          </a:p>
          <a:p>
            <a:r>
              <a:t>各位鄰居、大哥大姐大家晚安，感謝大家今天撥空聚在客廳。我是 595 號 A17 的廖倫豪。</a:t>
            </a:r>
          </a:p>
          <a:p>
            <a:r>
              <a:t>今天請大家聚在一起，不是要製造任何糾紛，而是要跟各位報告一個攸關我們 6 戶重大切身權益的事實。</a:t>
            </a:r>
          </a:p>
          <a:p>
            <a:r>
              <a:t>我們住在最外側臨龍社路這排，長年以來，我們每個月繳的管理費，大部分都在補貼大社區內部深處的開銷。</a:t>
            </a:r>
          </a:p>
          <a:p>
            <a:r>
              <a:t>我花了幾週時間，把管委會這幾個月的財務報表、地籍圖和法規全部調閱審查完畢，確認依據《公寓大廈管理條例》第 26 條，我們 100% 具備獨立分割條件。</a:t>
            </a:r>
          </a:p>
          <a:p>
            <a:r>
              <a:t>最重要的是：我們只要依法分家，帳上立刻能迎回 28 萬 4 千多塊的自有公款，每個月管理費還能從 1,000 元直接降到 400 元，生活更有自主尊嚴！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【Slide 2 痛點剖析口述重點】</a:t>
            </a:r>
          </a:p>
          <a:p>
            <a:r>
              <a:t>大家請看這張投影片，這就是我們 6 戶目前的真實處境：</a:t>
            </a:r>
          </a:p>
          <a:p>
            <a:r>
              <a:t>第一，全社區 241 戶，我們只有 6 戶，在管委會根本沒有席次，說話沒有人聽。</a:t>
            </a:r>
          </a:p>
          <a:p>
            <a:r>
              <a:t>第二，我們 6 戶每年總共繳交 7 萬 2 千塊管理費，這筆錢全被拿去支應大社區深處巷道的維護與開銷。</a:t>
            </a:r>
          </a:p>
          <a:p>
            <a:r>
              <a:t>第三，最不合理的是：內部垃圾子母車一個月要花 4 萬 8 千元，我們大境 6 戶門前就有市府免費垃圾車，大家都是自己等垃圾車，根本沒用子母車，為什麼每個月要替別人分攤？</a:t>
            </a:r>
          </a:p>
          <a:p>
            <a:r>
              <a:t>第四，物業經理每個月領 7 萬多薪水，常駐在裡面的貨櫃屋，我們門前連包裹代收都沒有，享受到的服務近乎為零。我們等於是在當冤大頭！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【Slide 3 法律三大王牌口述重點】</a:t>
            </a:r>
          </a:p>
          <a:p>
            <a:r>
              <a:t>有些鄰居可能會擔心：大社區會不會不放人？我們才 6 戶能打得贏嗎？</a:t>
            </a:r>
          </a:p>
          <a:p>
            <a:r>
              <a:t>請大家放一百個心！我查過所有法律判例與法條，依據《公寓大廈管理條例》第 26 條第 1 項，我們手握三大王牌：</a:t>
            </a:r>
          </a:p>
          <a:p>
            <a:r>
              <a:t>王牌一：我們的出入直接面臨公有計畫道路龍社路，根本不經過大社區裡面的 642 巷或任何私設巷道，地緣 100% 獨立！</a:t>
            </a:r>
          </a:p>
          <a:p>
            <a:r>
              <a:t>王牌二：我們生活垃圾自己等免費垃圾車，只要我們出具《環保自理切結書》，自願放棄使用大社區子母車，法規上所謂『公設不可分』的藉口直接瓦解！</a:t>
            </a:r>
          </a:p>
          <a:p>
            <a:r>
              <a:t>王牌三：管委會在新光銀行開的定存專戶裡，早就把『A2 大境定存單』獨立開立成一張 22 萬 231 元的存單。產權原本就是我們的，誰也賴不掉！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【Slide 4 資產清算與公款迎回口述重點】</a:t>
            </a:r>
          </a:p>
          <a:p>
            <a:r>
              <a:t>大家最關心的財務問題：我們分家能拿回多少錢？</a:t>
            </a:r>
          </a:p>
          <a:p>
            <a:r>
              <a:t>請看這份清算表，白紙黑字全部有會議記錄佐證：</a:t>
            </a:r>
          </a:p>
          <a:p>
            <a:r>
              <a:t>第一筆：新光銀行 A2 大境定存單本金 220,231 元，加上孳生利息。</a:t>
            </a:r>
          </a:p>
          <a:p>
            <a:r>
              <a:t>第二筆：富宇建設交屋時移交的管理基金，全社區 241 萬，我們 6 戶每戶 1 萬，依法應退還 60,000 元！</a:t>
            </a:r>
          </a:p>
          <a:p>
            <a:r>
              <a:t>第三筆：5 到 9 月份我們繳的管理費，扣除門前路燈公電後的結餘款約 4,500 元。</a:t>
            </a:r>
          </a:p>
          <a:p>
            <a:r>
              <a:t>合計我們大境獨立後，帳上一次性就能迎回 NT$ 284,731 元整！</a:t>
            </a:r>
          </a:p>
          <a:p>
            <a:r>
              <a:t>平均每一戶享有將近 4 萬 8 千元的公款儲備，未來門前路燈維護、局部公設修繕，這筆老本足夠我們用 10 年以上！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【Slide 5 管理費降至 400 元口述重點】</a:t>
            </a:r>
          </a:p>
          <a:p>
            <a:r>
              <a:t>分家之後，我們的日常開銷極度單純：</a:t>
            </a:r>
          </a:p>
          <a:p>
            <a:r>
              <a:t>我們每戶每個月的管理費，我建議直接調降到 400 元！每戶每年現省 7,200 元。</a:t>
            </a:r>
          </a:p>
          <a:p>
            <a:r>
              <a:t>6 戶一個月收 2,400 元，一年有 28,800 元。</a:t>
            </a:r>
          </a:p>
          <a:p>
            <a:r>
              <a:t>我們的支出只有門前路燈電費（每月約 400 元）和開戶行政郵資（每月約 200 元），垃圾清潔隊免費收，垃圾費是 0 元！</a:t>
            </a:r>
          </a:p>
          <a:p>
            <a:r>
              <a:t>算下來，我們每個月還倒賺 1,800 元，一年能存下 21,600 元儲備金。</a:t>
            </a:r>
          </a:p>
          <a:p>
            <a:r>
              <a:t>帳上本來就有 28 萬老本在銀行生利息，每年還能多存 2 萬多塊，財務非常健康自由！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【Slide 6 五大推動步驟口述重點】</a:t>
            </a:r>
          </a:p>
          <a:p>
            <a:r>
              <a:t>推動程序非常清晰，完全依內政部標準 SOP 辦理：</a:t>
            </a:r>
          </a:p>
          <a:p>
            <a:r>
              <a:t>第一步：今天我們 6 戶達成 100% 共識，大家簽署連署書。</a:t>
            </a:r>
          </a:p>
          <a:p>
            <a:r>
              <a:t>第二步：由我代表大家，正式以書面公文向富宇大地管委會例會提案。</a:t>
            </a:r>
          </a:p>
          <a:p>
            <a:r>
              <a:t>第三步：管委會確認獨立，雙方簽署《資產分割清算協議書》，把 28 萬專款移交。</a:t>
            </a:r>
          </a:p>
          <a:p>
            <a:r>
              <a:t>第四步：我們備齊公文規約向台中市龍井區公所報備，大社區變更為 235 戶，大境核准為 6 戶獨立管委會並取得新統一編號。</a:t>
            </a:r>
          </a:p>
          <a:p>
            <a:r>
              <a:t>第五步：我們拿著公所公文到新光銀行開立專戶，28 萬公款全額入帳，正式開始獨立自治！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【Slide 7 今日行動與受託承諾口述重點】</a:t>
            </a:r>
          </a:p>
          <a:p>
            <a:r>
              <a:t>各位鄰居，今天最關鍵的第一步，就是我們 6 戶的心要齊：</a:t>
            </a:r>
          </a:p>
          <a:p>
            <a:r>
              <a:t>發動提案，只需要我們 6 戶在申請書上簽名，完全不需要找大社區任何人簽名！</a:t>
            </a:r>
          </a:p>
          <a:p>
            <a:r>
              <a:t>我廖倫豪在此向全體鄰居鄭重承諾：</a:t>
            </a:r>
          </a:p>
          <a:p>
            <a:r>
              <a:t>第一，全套法律公文、可行性報告書、地籍圖、協議書我都已經以最嚴謹標準編制完畢。</a:t>
            </a:r>
          </a:p>
          <a:p>
            <a:r>
              <a:t>第二，由我擔任受託召集人，代表大家出席交涉與公所送件，大家不需要操心繁瑣公務。</a:t>
            </a:r>
          </a:p>
          <a:p>
            <a:r>
              <a:t>第三，帳目絕對透明，每一分公款全數進入大境專戶，絕無私挪。</a:t>
            </a:r>
          </a:p>
          <a:p>
            <a:r>
              <a:t>各位鄰居只要安心簽名，我們就能把原本屬於我們的自主權與公款拿回來！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【Slide 8 結語與 Q&amp;A 口述重點】</a:t>
            </a:r>
          </a:p>
          <a:p>
            <a:r>
              <a:t>感謝各位鄰居耐心的聆聽。</a:t>
            </a:r>
          </a:p>
          <a:p>
            <a:r>
              <a:t>桌上這套完整的法定卷宗、地籍圖和新光銀行定存單存根，大家都可以親自翻閱核對。</a:t>
            </a:r>
          </a:p>
          <a:p>
            <a:r>
              <a:t>如果大家沒有任何疑問，我們今天就在連署申請書上簽下這 6 個名字，讓我們攜手打造屬於大境自己的安心家園！</a:t>
            </a:r>
          </a:p>
          <a:p>
            <a:r>
              <a:t>現在開放大家提問，我一一為大家解答。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D4AF37"/>
                </a:solidFill>
                <a:latin typeface="PingFang TC"/>
              </a:rPr>
              <a:t>《公寓大廈管理條例》第 26 條第 1 項法定程序 ｜ 閉門鄰里說明會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PingFang TC"/>
              </a:rPr>
              <a:t>富宇大境（A2 區・6 戶）
獨立自治與公款迎回提案說明會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E6D5AC"/>
                </a:solidFill>
                <a:latin typeface="PingFang TC"/>
              </a:rPr>
              <a:t>找回專屬自主管轄權 ｜ 迎回 28 萬自有公款 ｜ 管理費自 $1,000 大幅腰斬至 $400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2560320" cy="1280160"/>
          </a:xfrm>
          <a:prstGeom prst="roundRect">
            <a:avLst/>
          </a:prstGeom>
          <a:solidFill>
            <a:srgbClr val="151B28"/>
          </a:solidFill>
          <a:ln w="1016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PingFang TC"/>
              </a:rPr>
              <a:t>專案標的</a:t>
            </a:r>
          </a:p>
          <a:p>
            <a:r>
              <a:rPr sz="1300" b="1">
                <a:solidFill>
                  <a:srgbClr val="FFFFFF"/>
                </a:solidFill>
                <a:latin typeface="PingFang TC"/>
              </a:rPr>
              <a:t>龍社路 593～603 號</a:t>
            </a:r>
          </a:p>
          <a:p>
            <a:r>
              <a:rPr sz="800">
                <a:solidFill>
                  <a:srgbClr val="94A3B8"/>
                </a:solidFill>
                <a:latin typeface="PingFang TC"/>
              </a:rPr>
              <a:t>A2 大境全體 6 戶透天別墅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4663440"/>
            <a:ext cx="2560320" cy="1280160"/>
          </a:xfrm>
          <a:prstGeom prst="roundRect">
            <a:avLst/>
          </a:prstGeom>
          <a:solidFill>
            <a:srgbClr val="151B28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46634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PingFang TC"/>
              </a:rPr>
              <a:t>可迎回公款</a:t>
            </a:r>
          </a:p>
          <a:p>
            <a:r>
              <a:rPr sz="1300" b="1">
                <a:solidFill>
                  <a:srgbClr val="D4AF37"/>
                </a:solidFill>
                <a:latin typeface="PingFang TC"/>
              </a:rPr>
              <a:t>NT$ 284,731 元</a:t>
            </a:r>
          </a:p>
          <a:p>
            <a:r>
              <a:rPr sz="800">
                <a:solidFill>
                  <a:srgbClr val="94A3B8"/>
                </a:solidFill>
                <a:latin typeface="PingFang TC"/>
              </a:rPr>
              <a:t>定存 22 萬 ＋ 交屋基金 6 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4663440"/>
            <a:ext cx="2560320" cy="1280160"/>
          </a:xfrm>
          <a:prstGeom prst="roundRect">
            <a:avLst/>
          </a:prstGeom>
          <a:solidFill>
            <a:srgbClr val="151B28"/>
          </a:solidFill>
          <a:ln w="1016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1344" y="46634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PingFang TC"/>
              </a:rPr>
              <a:t>住戶負擔</a:t>
            </a:r>
          </a:p>
          <a:p>
            <a:r>
              <a:rPr sz="1300" b="1">
                <a:solidFill>
                  <a:srgbClr val="FFFFFF"/>
                </a:solidFill>
                <a:latin typeface="PingFang TC"/>
              </a:rPr>
              <a:t>-60% 管理費</a:t>
            </a:r>
          </a:p>
          <a:p>
            <a:r>
              <a:rPr sz="800">
                <a:solidFill>
                  <a:srgbClr val="94A3B8"/>
                </a:solidFill>
                <a:latin typeface="PingFang TC"/>
              </a:rPr>
              <a:t>每戶自 $1,000 降至 $400/月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4663440"/>
            <a:ext cx="2560320" cy="1280160"/>
          </a:xfrm>
          <a:prstGeom prst="roundRect">
            <a:avLst/>
          </a:prstGeom>
          <a:solidFill>
            <a:srgbClr val="151B28"/>
          </a:solidFill>
          <a:ln w="1016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06256" y="46634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PingFang TC"/>
              </a:rPr>
              <a:t>發動門檻</a:t>
            </a:r>
          </a:p>
          <a:p>
            <a:r>
              <a:rPr sz="1300" b="1">
                <a:solidFill>
                  <a:srgbClr val="FFFFFF"/>
                </a:solidFill>
                <a:latin typeface="PingFang TC"/>
              </a:rPr>
              <a:t>只需我們 6 戶簽字</a:t>
            </a:r>
          </a:p>
          <a:p>
            <a:r>
              <a:rPr sz="800">
                <a:solidFill>
                  <a:srgbClr val="94A3B8"/>
                </a:solidFill>
                <a:latin typeface="PingFang TC"/>
              </a:rPr>
              <a:t>100% 共識・即刻啟動法定程序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PingFang TC"/>
              </a:rPr>
              <a:t>報告人：廖倫豪（A17 區權人） ｜ 富宇大境（A2 區）獨立分割法定提案說明會 ｜ 第 1 頁 / 共 8 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D4AF37"/>
                </a:solidFill>
                <a:latin typeface="PingFang TC"/>
              </a:rPr>
              <a:t>現況體檢 ｜ 利益嚴重失衡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PingFang TC"/>
              </a:rPr>
              <a:t>我們現正面臨的四大「巨額逆向補貼」困境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4A3B8"/>
                </a:solidFill>
                <a:latin typeface="PingFang TC"/>
              </a:rPr>
              <a:t>大社區合併後 241 戶，大境僅佔 2.49%，我們繳納的高額管理費全流入內部水庫！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60320" cy="4389120"/>
          </a:xfrm>
          <a:prstGeom prst="roundRect">
            <a:avLst/>
          </a:prstGeom>
          <a:solidFill>
            <a:srgbClr val="151B28"/>
          </a:solidFill>
          <a:ln w="1016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D4AF37"/>
                </a:solidFill>
                <a:latin typeface="PingFang TC"/>
              </a:rPr>
              <a:t>01</a:t>
            </a:r>
          </a:p>
          <a:p>
            <a:r>
              <a:rPr sz="1300" b="1">
                <a:solidFill>
                  <a:srgbClr val="FFFFFF"/>
                </a:solidFill>
                <a:latin typeface="PingFang TC"/>
              </a:rPr>
              <a:t>話語權邊緣化</a:t>
            </a:r>
          </a:p>
          <a:p>
            <a:pPr>
              <a:spcAft>
                <a:spcPts val="800"/>
              </a:spcAft>
            </a:pPr>
            <a:r>
              <a:rPr sz="900" b="1">
                <a:solidFill>
                  <a:srgbClr val="E6D5AC"/>
                </a:solidFill>
                <a:latin typeface="PingFang TC"/>
              </a:rPr>
              <a:t>佔比僅 2.49%，毫無影響力</a:t>
            </a:r>
          </a:p>
          <a:p>
            <a:r>
              <a:rPr sz="850">
                <a:solidFill>
                  <a:srgbClr val="94A3B8"/>
                </a:solidFill>
                <a:latin typeface="PingFang TC"/>
              </a:rPr>
              <a:t>富宇大地全區 241 戶，大境僅 6 戶。在 12~18 席管委會中無實質席次，全區決策、經費動支完全由內部大聚落主導，大境權益形同真空。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737360"/>
            <a:ext cx="2560320" cy="4389120"/>
          </a:xfrm>
          <a:prstGeom prst="roundRect">
            <a:avLst/>
          </a:prstGeom>
          <a:solidFill>
            <a:srgbClr val="151B28"/>
          </a:solidFill>
          <a:ln w="1016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92024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D4AF37"/>
                </a:solidFill>
                <a:latin typeface="PingFang TC"/>
              </a:rPr>
              <a:t>02</a:t>
            </a:r>
          </a:p>
          <a:p>
            <a:r>
              <a:rPr sz="1300" b="1">
                <a:solidFill>
                  <a:srgbClr val="FFFFFF"/>
                </a:solidFill>
                <a:latin typeface="PingFang TC"/>
              </a:rPr>
              <a:t>年繳 7.2 萬管理費</a:t>
            </a:r>
          </a:p>
          <a:p>
            <a:pPr>
              <a:spcAft>
                <a:spcPts val="800"/>
              </a:spcAft>
            </a:pPr>
            <a:r>
              <a:rPr sz="900" b="1">
                <a:solidFill>
                  <a:srgbClr val="E6D5AC"/>
                </a:solidFill>
                <a:latin typeface="PingFang TC"/>
              </a:rPr>
              <a:t>全數補貼大社區經常門水庫</a:t>
            </a:r>
          </a:p>
          <a:p>
            <a:r>
              <a:rPr sz="850">
                <a:solidFill>
                  <a:srgbClr val="94A3B8"/>
                </a:solidFill>
                <a:latin typeface="PingFang TC"/>
              </a:rPr>
              <a:t>大境 6 戶每年繳交 $72,000 元（每戶 $1,000/月）。這筆龐大經費全數用於支付內部深處私設巷道維護與大型管制作業，回饋到大境門前的幾近於零。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737360"/>
            <a:ext cx="2560320" cy="4389120"/>
          </a:xfrm>
          <a:prstGeom prst="roundRect">
            <a:avLst/>
          </a:prstGeom>
          <a:solidFill>
            <a:srgbClr val="151B28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92024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11D48"/>
                </a:solidFill>
                <a:latin typeface="PingFang TC"/>
              </a:rPr>
              <a:t>03</a:t>
            </a:r>
          </a:p>
          <a:p>
            <a:r>
              <a:rPr sz="1300" b="1">
                <a:solidFill>
                  <a:srgbClr val="FFFFFF"/>
                </a:solidFill>
                <a:latin typeface="PingFang TC"/>
              </a:rPr>
              <a:t>替他人子母車買單</a:t>
            </a:r>
          </a:p>
          <a:p>
            <a:pPr>
              <a:spcAft>
                <a:spcPts val="800"/>
              </a:spcAft>
            </a:pPr>
            <a:r>
              <a:rPr sz="900" b="1">
                <a:solidFill>
                  <a:srgbClr val="F59E0B"/>
                </a:solidFill>
                <a:latin typeface="PingFang TC"/>
              </a:rPr>
              <a:t>自己等清潔隊，卻月月幫付清運費</a:t>
            </a:r>
          </a:p>
          <a:p>
            <a:r>
              <a:rPr sz="850">
                <a:solidFill>
                  <a:srgbClr val="94A3B8"/>
                </a:solidFill>
                <a:latin typeface="PingFang TC"/>
              </a:rPr>
              <a:t>內部巷道睿豐垃圾子母車每月清運費高達 4.8 萬元（每週兩次 6 桶）。大境 6 戶位在龍社路，出門直接等公有免費垃圾車，未曾使用子母車卻長年幫大社區分攤！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737360"/>
            <a:ext cx="2560320" cy="4389120"/>
          </a:xfrm>
          <a:prstGeom prst="roundRect">
            <a:avLst/>
          </a:prstGeom>
          <a:solidFill>
            <a:srgbClr val="151B28"/>
          </a:solidFill>
          <a:ln w="1016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192024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D4AF37"/>
                </a:solidFill>
                <a:latin typeface="PingFang TC"/>
              </a:rPr>
              <a:t>04</a:t>
            </a:r>
          </a:p>
          <a:p>
            <a:r>
              <a:rPr sz="1300" b="1">
                <a:solidFill>
                  <a:srgbClr val="FFFFFF"/>
                </a:solidFill>
                <a:latin typeface="PingFang TC"/>
              </a:rPr>
              <a:t>物業服務近乎於零</a:t>
            </a:r>
          </a:p>
          <a:p>
            <a:pPr>
              <a:spcAft>
                <a:spcPts val="800"/>
              </a:spcAft>
            </a:pPr>
            <a:r>
              <a:rPr sz="900" b="1">
                <a:solidFill>
                  <a:srgbClr val="E6D5AC"/>
                </a:solidFill>
                <a:latin typeface="PingFang TC"/>
              </a:rPr>
              <a:t>經理深居貨櫃屋，門前無人聞問</a:t>
            </a:r>
          </a:p>
          <a:p>
            <a:r>
              <a:rPr sz="850">
                <a:solidFill>
                  <a:srgbClr val="94A3B8"/>
                </a:solidFill>
                <a:latin typeface="PingFang TC"/>
              </a:rPr>
              <a:t>物業經理曹鈺芳（$70,350/月）常駐於內部貨櫃屋管理室。大境臨公有龍社路，郵差與外送直送門前，既無代收包裹亦無公設巡護，實質享受到的服務趨近於零。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PingFang TC"/>
              </a:rPr>
              <a:t>報告人：廖倫豪（A17 區權人） ｜ 富宇大境（A2 區）獨立分割法定提案說明會 ｜ 第 2 頁 / 共 8 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D4AF37"/>
                </a:solidFill>
                <a:latin typeface="PingFang TC"/>
              </a:rPr>
              <a:t>法源依據 ｜ 穩操勝券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PingFang TC"/>
              </a:rPr>
              <a:t>為什麼我們 100% 具備獨立分割資格？三大王牌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4A3B8"/>
                </a:solidFill>
                <a:latin typeface="PingFang TC"/>
              </a:rPr>
              <a:t>依據《公寓大廈管理條例》第 26 條第 1 項，只要具備獨立使用性，少數得成立專管委員會！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74720" cy="4389120"/>
          </a:xfrm>
          <a:prstGeom prst="roundRect">
            <a:avLst/>
          </a:prstGeom>
          <a:solidFill>
            <a:srgbClr val="151B28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4AF37"/>
                </a:solidFill>
                <a:latin typeface="PingFang TC"/>
              </a:rPr>
              <a:t>王牌一 ｜ 通行完全獨立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PingFang TC"/>
              </a:rPr>
              <a:t>直接面臨計畫公有道路「龍社路」</a:t>
            </a:r>
          </a:p>
          <a:p>
            <a:r>
              <a:rPr sz="950">
                <a:solidFill>
                  <a:srgbClr val="94A3B8"/>
                </a:solidFill>
                <a:latin typeface="PingFang TC"/>
              </a:rPr>
              <a:t>出入交通直接銜接市區幹道，絕不途經大社區內部私設巷道（如 642 巷等）。
• 無袋地通行爭議
• 無內部道路路權糾紛
• 地緣關係 100% 絕對自主獨立！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737360"/>
            <a:ext cx="3474720" cy="4389120"/>
          </a:xfrm>
          <a:prstGeom prst="roundRect">
            <a:avLst/>
          </a:prstGeom>
          <a:solidFill>
            <a:srgbClr val="151B2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96596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0B981"/>
                </a:solidFill>
                <a:latin typeface="PingFang TC"/>
              </a:rPr>
              <a:t>王牌二 ｜ 環保自理免子母車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PingFang TC"/>
              </a:rPr>
              <a:t>生活垃圾門前等免費公有垃圾車</a:t>
            </a:r>
          </a:p>
          <a:p>
            <a:r>
              <a:rPr sz="950">
                <a:solidFill>
                  <a:srgbClr val="94A3B8"/>
                </a:solidFill>
                <a:latin typeface="PingFang TC"/>
              </a:rPr>
              <a:t>大社區最常阻擋分割的藉口是「共用垃圾環保室」。但大境戶戶門前等清潔隊，完全用不到內部子母車！
• 門前免費清運，免花一毛錢
• 簽署《環保自理切結書》放棄子母車
• 徹底打破「公設不可分」之牽絆阻礙！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737360"/>
            <a:ext cx="3474720" cy="4389120"/>
          </a:xfrm>
          <a:prstGeom prst="roundRect">
            <a:avLst/>
          </a:prstGeom>
          <a:solidFill>
            <a:srgbClr val="151B28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3024" y="196596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4AF37"/>
                </a:solidFill>
                <a:latin typeface="PingFang TC"/>
              </a:rPr>
              <a:t>王牌三 ｜ 專款定存獨立立卷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PingFang TC"/>
              </a:rPr>
              <a:t>新光銀行專戶白紙黑字立卷 22 萬</a:t>
            </a:r>
          </a:p>
          <a:p>
            <a:r>
              <a:rPr sz="950">
                <a:solidFill>
                  <a:srgbClr val="94A3B8"/>
                </a:solidFill>
                <a:latin typeface="PingFang TC"/>
              </a:rPr>
              <a:t>5 月會議與 9 月財報載明：市政府核退之公共基金中，「A2 大境區定存單」金額為 NT$ 220,231 元！
• 定存單原本就獨立開立分戶
• 產權邊界涇渭分明、無帳目混淆
• 分割取回不影響大社區原有 760 萬老本！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PingFang TC"/>
              </a:rPr>
              <a:t>報告人：廖倫豪（A17 區權人） ｜ 富宇大境（A2 區）獨立分割法定提案說明會 ｜ 第 3 頁 / 共 8 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D4AF37"/>
                </a:solidFill>
                <a:latin typeface="PingFang TC"/>
              </a:rPr>
              <a:t>財務確權 ｜ 迎回公款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PingFang TC"/>
              </a:rPr>
              <a:t>分家清算：大境 6 戶帳上立即取回 NT$ 284,731 元！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4A3B8"/>
                </a:solidFill>
                <a:latin typeface="PingFang TC"/>
              </a:rPr>
              <a:t>這是建商交屋與政府核退撥付給我們 6 戶的自有血汗錢，獨立後一次性全額撥還專戶！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74720" cy="4389120"/>
          </a:xfrm>
          <a:prstGeom prst="roundRect">
            <a:avLst/>
          </a:prstGeom>
          <a:solidFill>
            <a:srgbClr val="151B28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PingFang TC"/>
              </a:rPr>
              <a:t>大境獨立自有公共基金</a:t>
            </a:r>
          </a:p>
          <a:p>
            <a:r>
              <a:rPr sz="3600" b="1">
                <a:solidFill>
                  <a:srgbClr val="D4AF37"/>
                </a:solidFill>
                <a:latin typeface="PingFang TC"/>
              </a:rPr>
              <a:t>$284,731</a:t>
            </a:r>
          </a:p>
          <a:p>
            <a:pPr>
              <a:spcAft>
                <a:spcPts val="1200"/>
              </a:spcAft>
            </a:pPr>
            <a:r>
              <a:rPr sz="950" b="1">
                <a:solidFill>
                  <a:srgbClr val="E6D5AC"/>
                </a:solidFill>
                <a:latin typeface="PingFang TC"/>
              </a:rPr>
              <a:t>新台幣 貳拾捌萬肆仟柒佰參拾壹元整</a:t>
            </a:r>
          </a:p>
          <a:p>
            <a:r>
              <a:rPr sz="900">
                <a:solidFill>
                  <a:srgbClr val="94A3B8"/>
                </a:solidFill>
                <a:latin typeface="PingFang TC"/>
              </a:rPr>
              <a:t>• 新光銀行定存利息全額滾存
• 每戶平均享有約 4.75 萬元公款儲備
• 完全不拿大社區任何一毛錢
• 自有路燈與公設修繕 10 年無後顧之憂！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7071055" cy="4389120"/>
          </a:xfrm>
          <a:prstGeom prst="roundRect">
            <a:avLst/>
          </a:prstGeom>
          <a:solidFill>
            <a:srgbClr val="151B28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0" y="1920240"/>
          <a:ext cx="670529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645920"/>
                <a:gridCol w="2956255"/>
              </a:tblGrid>
              <a:tr h="78638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D4AF37"/>
                          </a:solidFill>
                          <a:latin typeface="PingFang TC"/>
                        </a:rPr>
                        <a:t>清算資產項目</a:t>
                      </a:r>
                    </a:p>
                  </a:txBody>
                  <a:tcPr>
                    <a:solidFill>
                      <a:srgbClr val="1A1D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D4AF37"/>
                          </a:solidFill>
                          <a:latin typeface="PingFang TC"/>
                        </a:rPr>
                        <a:t>應移交金額</a:t>
                      </a:r>
                    </a:p>
                  </a:txBody>
                  <a:tcPr>
                    <a:solidFill>
                      <a:srgbClr val="1A1D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D4AF37"/>
                          </a:solidFill>
                          <a:latin typeface="PingFang TC"/>
                        </a:rPr>
                        <a:t>法律憑據與割離方式</a:t>
                      </a:r>
                    </a:p>
                  </a:txBody>
                  <a:tcPr>
                    <a:solidFill>
                      <a:srgbClr val="1A1D20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94A3B8"/>
                          </a:solidFill>
                          <a:latin typeface="PingFang TC"/>
                        </a:rPr>
                        <a:t>新光銀行 A2 大境定存單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FFFFFF"/>
                          </a:solidFill>
                          <a:latin typeface="PingFang TC"/>
                        </a:rPr>
                        <a:t>NT$ 220,231 元
(含孳生利息)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94A3B8"/>
                          </a:solidFill>
                          <a:latin typeface="PingFang TC"/>
                        </a:rPr>
                        <a:t>115.05.06例會決議，新光定存單第2筆，辦理抬頭更名或解約匯撥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94A3B8"/>
                          </a:solidFill>
                          <a:latin typeface="PingFang TC"/>
                        </a:rPr>
                        <a:t>富宇建設交屋管理基金</a:t>
                      </a:r>
                    </a:p>
                  </a:txBody>
                  <a:tcPr>
                    <a:solidFill>
                      <a:srgbClr val="15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FFFFFF"/>
                          </a:solidFill>
                          <a:latin typeface="PingFang TC"/>
                        </a:rPr>
                        <a:t>NT$ 60,000 元
($10,000 × 6戶)</a:t>
                      </a:r>
                    </a:p>
                  </a:txBody>
                  <a:tcPr>
                    <a:solidFill>
                      <a:srgbClr val="15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94A3B8"/>
                          </a:solidFill>
                          <a:latin typeface="PingFang TC"/>
                        </a:rPr>
                        <a:t>115.05.05富宇交屋基金支票241萬入帳，大境6戶全額核實退還</a:t>
                      </a:r>
                    </a:p>
                  </a:txBody>
                  <a:tcPr>
                    <a:solidFill>
                      <a:srgbClr val="151B28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94A3B8"/>
                          </a:solidFill>
                          <a:latin typeface="PingFang TC"/>
                        </a:rPr>
                        <a:t>5~9月管理費結餘退款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FFFFFF"/>
                          </a:solidFill>
                          <a:latin typeface="PingFang TC"/>
                        </a:rPr>
                        <a:t>約 NT$ 4,500 元
(會計清算結餘)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94A3B8"/>
                          </a:solidFill>
                          <a:latin typeface="PingFang TC"/>
                        </a:rPr>
                        <a:t>大境繳交30,000元扣除路燈公電攤提結餘，經財監委清算退回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D4AF37"/>
                          </a:solidFill>
                          <a:latin typeface="PingFang TC"/>
                        </a:rPr>
                        <a:t>合計可取回公款總額</a:t>
                      </a:r>
                    </a:p>
                  </a:txBody>
                  <a:tcPr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D4AF37"/>
                          </a:solidFill>
                          <a:latin typeface="PingFang TC"/>
                        </a:rPr>
                        <a:t>NT$ 284,731 元整</a:t>
                      </a:r>
                    </a:p>
                  </a:txBody>
                  <a:tcPr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D4AF37"/>
                          </a:solidFill>
                          <a:latin typeface="PingFang TC"/>
                        </a:rPr>
                        <a:t>大境管委會開立銀行專戶後，一次性全數匯入專戶！</a:t>
                      </a:r>
                    </a:p>
                  </a:txBody>
                  <a:tcPr>
                    <a:solidFill>
                      <a:srgbClr val="1A2233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PingFang TC"/>
              </a:rPr>
              <a:t>報告人：廖倫豪（A17 區權人） ｜ 富宇大境（A2 區）獨立分割法定提案說明會 ｜ 第 4 頁 / 共 8 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D4AF37"/>
                </a:solidFill>
                <a:latin typeface="PingFang TC"/>
              </a:rPr>
              <a:t>財務自主 ｜ 負擔減半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PingFang TC"/>
              </a:rPr>
              <a:t>自主預算模型：管理費由 $1,000 降至 $400，老本越滾越多！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4A3B8"/>
                </a:solidFill>
                <a:latin typeface="PingFang TC"/>
              </a:rPr>
              <a:t>擺脫大社區沉重物業開銷，6 戶透天維護極度純粹，每年不僅減輕負擔更倒賺儲備金！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74720" cy="4389120"/>
          </a:xfrm>
          <a:prstGeom prst="roundRect">
            <a:avLst/>
          </a:prstGeom>
          <a:solidFill>
            <a:srgbClr val="151B2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PingFang TC"/>
              </a:rPr>
              <a:t>每戶每月管理費對照</a:t>
            </a:r>
          </a:p>
          <a:p>
            <a:r>
              <a:rPr sz="2800" b="1">
                <a:solidFill>
                  <a:srgbClr val="10B981"/>
                </a:solidFill>
                <a:latin typeface="PingFang TC"/>
              </a:rPr>
              <a:t>$1,000 ➔ $400</a:t>
            </a:r>
          </a:p>
          <a:p>
            <a:pPr>
              <a:spcAft>
                <a:spcPts val="1200"/>
              </a:spcAft>
            </a:pPr>
            <a:r>
              <a:rPr sz="1100" b="1">
                <a:solidFill>
                  <a:srgbClr val="FFFFFF"/>
                </a:solidFill>
                <a:latin typeface="PingFang TC"/>
              </a:rPr>
              <a:t>實質負擔直接大減 60%！</a:t>
            </a:r>
          </a:p>
          <a:p>
            <a:r>
              <a:rPr sz="900">
                <a:solidFill>
                  <a:srgbClr val="94A3B8"/>
                </a:solidFill>
                <a:latin typeface="PingFang TC"/>
              </a:rPr>
              <a:t>【每戶每年實質省下】
$600 × 12 個月 = NT$ 7,200 元！
【6 戶大境每年總收】
NT$ 28,800 元
支應門前路燈與局部公電（年約 $4,800）及行政開支（年約 $2,400）後，
每年還能常態淨滾存 NT$ 21,600 元 儲備金！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7071055" cy="4389120"/>
          </a:xfrm>
          <a:prstGeom prst="roundRect">
            <a:avLst/>
          </a:prstGeom>
          <a:solidFill>
            <a:srgbClr val="151B28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0" y="1920240"/>
          <a:ext cx="670529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2773375"/>
              </a:tblGrid>
              <a:tr h="6553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D4AF37"/>
                          </a:solidFill>
                          <a:latin typeface="PingFang TC"/>
                        </a:rPr>
                        <a:t>自主營運收支項目</a:t>
                      </a:r>
                    </a:p>
                  </a:txBody>
                  <a:tcPr>
                    <a:solidFill>
                      <a:srgbClr val="1A1D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D4AF37"/>
                          </a:solidFill>
                          <a:latin typeface="PingFang TC"/>
                        </a:rPr>
                        <a:t>每月金額 (新台幣)</a:t>
                      </a:r>
                    </a:p>
                  </a:txBody>
                  <a:tcPr>
                    <a:solidFill>
                      <a:srgbClr val="1A1D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D4AF37"/>
                          </a:solidFill>
                          <a:latin typeface="PingFang TC"/>
                        </a:rPr>
                        <a:t>年度金額 (新台幣) / 說明</a:t>
                      </a:r>
                    </a:p>
                  </a:txBody>
                  <a:tcPr>
                    <a:solidFill>
                      <a:srgbClr val="1A1D20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94A3B8"/>
                          </a:solidFill>
                          <a:latin typeface="PingFang TC"/>
                        </a:rPr>
                        <a:t>管理費收入 (每戶 $400)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FFFFFF"/>
                          </a:solidFill>
                          <a:latin typeface="PingFang TC"/>
                        </a:rPr>
                        <a:t>+ NT$ 2,400 元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94A3B8"/>
                          </a:solidFill>
                          <a:latin typeface="PingFang TC"/>
                        </a:rPr>
                        <a:t>+ NT$ 28,800 元 (6戶全收，負擔大減 60%)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94A3B8"/>
                          </a:solidFill>
                          <a:latin typeface="PingFang TC"/>
                        </a:rPr>
                        <a:t>公共路燈與設施電費</a:t>
                      </a:r>
                    </a:p>
                  </a:txBody>
                  <a:tcPr>
                    <a:solidFill>
                      <a:srgbClr val="15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FFFFFF"/>
                          </a:solidFill>
                          <a:latin typeface="PingFang TC"/>
                        </a:rPr>
                        <a:t>- NT$ 400 元</a:t>
                      </a:r>
                    </a:p>
                  </a:txBody>
                  <a:tcPr>
                    <a:solidFill>
                      <a:srgbClr val="15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94A3B8"/>
                          </a:solidFill>
                          <a:latin typeface="PingFang TC"/>
                        </a:rPr>
                        <a:t>- NT$ 4,800 元 (僅門前路燈與局部公電)</a:t>
                      </a:r>
                    </a:p>
                  </a:txBody>
                  <a:tcPr>
                    <a:solidFill>
                      <a:srgbClr val="151B28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94A3B8"/>
                          </a:solidFill>
                          <a:latin typeface="PingFang TC"/>
                        </a:rPr>
                        <a:t>行政雜支與開戶規費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FFFFFF"/>
                          </a:solidFill>
                          <a:latin typeface="PingFang TC"/>
                        </a:rPr>
                        <a:t>- NT$ 200 元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94A3B8"/>
                          </a:solidFill>
                          <a:latin typeface="PingFang TC"/>
                        </a:rPr>
                        <a:t>- NT$ 2,400 元 (文具、郵資、印鑑保管)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94A3B8"/>
                          </a:solidFill>
                          <a:latin typeface="PingFang TC"/>
                        </a:rPr>
                        <a:t>生活垃圾清運支出</a:t>
                      </a:r>
                    </a:p>
                  </a:txBody>
                  <a:tcPr>
                    <a:solidFill>
                      <a:srgbClr val="15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FFFFFF"/>
                          </a:solidFill>
                          <a:latin typeface="PingFang TC"/>
                        </a:rPr>
                        <a:t>NT$ 0 元</a:t>
                      </a:r>
                    </a:p>
                  </a:txBody>
                  <a:tcPr>
                    <a:solidFill>
                      <a:srgbClr val="15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94A3B8"/>
                          </a:solidFill>
                          <a:latin typeface="PingFang TC"/>
                        </a:rPr>
                        <a:t>NT$ 0 元 (門前直接等市府免費垃圾車)</a:t>
                      </a:r>
                    </a:p>
                  </a:txBody>
                  <a:tcPr>
                    <a:solidFill>
                      <a:srgbClr val="151B28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D4AF37"/>
                          </a:solidFill>
                          <a:latin typeface="PingFang TC"/>
                        </a:rPr>
                        <a:t>每月常態盈餘 / 儲備金</a:t>
                      </a:r>
                    </a:p>
                  </a:txBody>
                  <a:tcPr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0B981"/>
                          </a:solidFill>
                          <a:latin typeface="PingFang TC"/>
                        </a:rPr>
                        <a:t>+ NT$ 1,800 元</a:t>
                      </a:r>
                    </a:p>
                  </a:txBody>
                  <a:tcPr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D4AF37"/>
                          </a:solidFill>
                          <a:latin typeface="PingFang TC"/>
                        </a:rPr>
                        <a:t>+ NT$ 21,600 元 (年年穩定增加老本儲備！)</a:t>
                      </a:r>
                    </a:p>
                  </a:txBody>
                  <a:tcPr>
                    <a:solidFill>
                      <a:srgbClr val="1A2233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PingFang TC"/>
              </a:rPr>
              <a:t>報告人：廖倫豪（A17 區權人） ｜ 富宇大境（A2 區）獨立分割法定提案說明會 ｜ 第 5 頁 / 共 8 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D4AF37"/>
                </a:solidFill>
                <a:latin typeface="PingFang TC"/>
              </a:rPr>
              <a:t>實務推進 ｜ 權責清楚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PingFang TC"/>
              </a:rPr>
              <a:t>五大推進標準作業程序（SOP）：步步合法、鄰里安心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4A3B8"/>
                </a:solidFill>
                <a:latin typeface="PingFang TC"/>
              </a:rPr>
              <a:t>手續公開透明、文件完全齊備，由受託召集人為大家辦理全般行政送件事宜！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057400" cy="4389120"/>
          </a:xfrm>
          <a:prstGeom prst="roundRect">
            <a:avLst/>
          </a:prstGeom>
          <a:solidFill>
            <a:srgbClr val="151B28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920240"/>
            <a:ext cx="183794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4AF37"/>
                </a:solidFill>
                <a:latin typeface="PingFang TC"/>
              </a:rPr>
              <a:t>階段一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PingFang TC"/>
              </a:rPr>
              <a:t>內部連署凝聚</a:t>
            </a:r>
          </a:p>
          <a:p>
            <a:r>
              <a:rPr sz="850">
                <a:solidFill>
                  <a:srgbClr val="94A3B8"/>
                </a:solidFill>
                <a:latin typeface="PingFang TC"/>
              </a:rPr>
              <a:t>召開大境 6 戶客廳會，推選廖倫豪先生為專案召集人；6 戶簽署正式連署書（取得 100% 共識）。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737360"/>
            <a:ext cx="2057400" cy="4389120"/>
          </a:xfrm>
          <a:prstGeom prst="roundRect">
            <a:avLst/>
          </a:prstGeom>
          <a:solidFill>
            <a:srgbClr val="151B28"/>
          </a:solidFill>
          <a:ln w="1016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19" y="1920240"/>
            <a:ext cx="183794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4AF37"/>
                </a:solidFill>
                <a:latin typeface="PingFang TC"/>
              </a:rPr>
              <a:t>階段二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PingFang TC"/>
              </a:rPr>
              <a:t>管委會正式提案</a:t>
            </a:r>
          </a:p>
          <a:p>
            <a:r>
              <a:rPr sz="850">
                <a:solidFill>
                  <a:srgbClr val="94A3B8"/>
                </a:solidFill>
                <a:latin typeface="PingFang TC"/>
              </a:rPr>
              <a:t>召集人以正式公文向富宇大地第二屆管委會例會提案；以「財務無損、公設減負、管理減壓」創造雙贏。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737360"/>
            <a:ext cx="2057400" cy="4389120"/>
          </a:xfrm>
          <a:prstGeom prst="roundRect">
            <a:avLst/>
          </a:prstGeom>
          <a:solidFill>
            <a:srgbClr val="151B28"/>
          </a:solidFill>
          <a:ln w="1016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93792" y="1920240"/>
            <a:ext cx="183794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4AF37"/>
                </a:solidFill>
                <a:latin typeface="PingFang TC"/>
              </a:rPr>
              <a:t>階段三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PingFang TC"/>
              </a:rPr>
              <a:t>移交協議簽署</a:t>
            </a:r>
          </a:p>
          <a:p>
            <a:r>
              <a:rPr sz="850">
                <a:solidFill>
                  <a:srgbClr val="94A3B8"/>
                </a:solidFill>
                <a:latin typeface="PingFang TC"/>
              </a:rPr>
              <a:t>管委會例會確認獨立，雙方簽署《資產分割清算協議書》；大境 6 戶成立管委會並訂立自主規約。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737360"/>
            <a:ext cx="2057400" cy="4389120"/>
          </a:xfrm>
          <a:prstGeom prst="roundRect">
            <a:avLst/>
          </a:prstGeom>
          <a:solidFill>
            <a:srgbClr val="151B28"/>
          </a:solidFill>
          <a:ln w="1016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70064" y="1920240"/>
            <a:ext cx="183794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4AF37"/>
                </a:solidFill>
                <a:latin typeface="PingFang TC"/>
              </a:rPr>
              <a:t>階段四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PingFang TC"/>
              </a:rPr>
              <a:t>公所變更報備</a:t>
            </a:r>
          </a:p>
          <a:p>
            <a:r>
              <a:rPr sz="850">
                <a:solidFill>
                  <a:srgbClr val="94A3B8"/>
                </a:solidFill>
                <a:latin typeface="PingFang TC"/>
              </a:rPr>
              <a:t>備齊公文、規約、地籍圖向台中市龍井區公所申辦：大社區變更為 235 戶、大境獨立成立 6 戶並領取新統編！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1737360"/>
            <a:ext cx="2057400" cy="4389120"/>
          </a:xfrm>
          <a:prstGeom prst="roundRect">
            <a:avLst/>
          </a:prstGeom>
          <a:solidFill>
            <a:srgbClr val="151B28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46336" y="1920240"/>
            <a:ext cx="183794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4AF37"/>
                </a:solidFill>
                <a:latin typeface="PingFang TC"/>
              </a:rPr>
              <a:t>階段五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PingFang TC"/>
              </a:rPr>
              <a:t>銀行開戶割離</a:t>
            </a:r>
          </a:p>
          <a:p>
            <a:r>
              <a:rPr sz="850">
                <a:solidFill>
                  <a:srgbClr val="94A3B8"/>
                </a:solidFill>
                <a:latin typeface="PingFang TC"/>
              </a:rPr>
              <a:t>持公所報備函至新光銀行開立專戶；28 萬公款全數匯入；終止大社區物業外包，獨立自治正式啟航！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PingFang TC"/>
              </a:rPr>
              <a:t>報告人：廖倫豪（A17 區權人） ｜ 富宇大境（A2 區）獨立分割法定提案說明會 ｜ 第 6 頁 / 共 8 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D4AF37"/>
                </a:solidFill>
                <a:latin typeface="PingFang TC"/>
              </a:rPr>
              <a:t>鄰里齊心 ｜ 今日啟動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PingFang TC"/>
              </a:rPr>
              <a:t>現在要做的事：只需我們大境 6 戶親筆簽名！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4A3B8"/>
                </a:solidFill>
                <a:latin typeface="PingFang TC"/>
              </a:rPr>
              <a:t>不需要找大社區任何人簽名！只要我們 6 戶達成 100% 共識，獨立法定程序即刻啟動！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151B28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4AF37"/>
                </a:solidFill>
                <a:latin typeface="PingFang TC"/>
              </a:rPr>
              <a:t>【連署名冊簽署清單（共 6 戶）】</a:t>
            </a:r>
          </a:p>
          <a:p>
            <a:pPr>
              <a:spcAft>
                <a:spcPts val="800"/>
              </a:spcAft>
            </a:pPr>
            <a:r>
              <a:rPr sz="950">
                <a:solidFill>
                  <a:srgbClr val="FFFFFF"/>
                </a:solidFill>
                <a:latin typeface="PingFang TC"/>
              </a:rPr>
              <a:t>只要以下 6 戶屋主具名簽名蓋章，提案即具法定拘束力：</a:t>
            </a:r>
          </a:p>
          <a:p>
            <a:r>
              <a:rPr sz="1000" b="1">
                <a:solidFill>
                  <a:srgbClr val="FFFFFF"/>
                </a:solidFill>
                <a:latin typeface="PingFang TC"/>
              </a:rPr>
              <a:t>1. 龍社路 593 號 區權人</a:t>
            </a:r>
          </a:p>
          <a:p>
            <a:r>
              <a:rPr sz="1000" b="1">
                <a:solidFill>
                  <a:srgbClr val="E6D5AC"/>
                </a:solidFill>
                <a:latin typeface="PingFang TC"/>
              </a:rPr>
              <a:t>2. 龍社路 595 號 區權人（廖倫豪 先生）</a:t>
            </a:r>
          </a:p>
          <a:p>
            <a:r>
              <a:rPr sz="1000" b="1">
                <a:solidFill>
                  <a:srgbClr val="FFFFFF"/>
                </a:solidFill>
                <a:latin typeface="PingFang TC"/>
              </a:rPr>
              <a:t>3. 龍社路 597 號 區權人</a:t>
            </a:r>
          </a:p>
          <a:p>
            <a:r>
              <a:rPr sz="1000" b="1">
                <a:solidFill>
                  <a:srgbClr val="FFFFFF"/>
                </a:solidFill>
                <a:latin typeface="PingFang TC"/>
              </a:rPr>
              <a:t>4. 龍社路 599 號 區權人</a:t>
            </a:r>
          </a:p>
          <a:p>
            <a:r>
              <a:rPr sz="1000" b="1">
                <a:solidFill>
                  <a:srgbClr val="FFFFFF"/>
                </a:solidFill>
                <a:latin typeface="PingFang TC"/>
              </a:rPr>
              <a:t>5. 龍社路 601 號 區權人</a:t>
            </a:r>
          </a:p>
          <a:p>
            <a:r>
              <a:rPr sz="1000" b="1">
                <a:solidFill>
                  <a:srgbClr val="FFFFFF"/>
                </a:solidFill>
                <a:latin typeface="PingFang TC"/>
              </a:rPr>
              <a:t>6. 龍社路 603 號 區權人</a:t>
            </a:r>
          </a:p>
          <a:p>
            <a:pPr>
              <a:spcBef>
                <a:spcPts val="800"/>
              </a:spcBef>
            </a:pPr>
            <a:r>
              <a:rPr sz="850">
                <a:solidFill>
                  <a:srgbClr val="94A3B8"/>
                </a:solidFill>
                <a:latin typeface="PingFang TC"/>
              </a:rPr>
              <a:t>※ 簽署文件：《富宇大境區分所有權人獨立分割正式提案申請書暨全體連署同意書》第二頁。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42255" cy="4389120"/>
          </a:xfrm>
          <a:prstGeom prst="roundRect">
            <a:avLst/>
          </a:prstGeom>
          <a:solidFill>
            <a:srgbClr val="151B2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8764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B981"/>
                </a:solidFill>
                <a:latin typeface="PingFang TC"/>
              </a:rPr>
              <a:t>【召集人受託承諾與保障】</a:t>
            </a:r>
          </a:p>
          <a:p>
            <a:pPr>
              <a:spcAft>
                <a:spcPts val="1000"/>
              </a:spcAft>
            </a:pPr>
            <a:r>
              <a:rPr sz="950">
                <a:solidFill>
                  <a:srgbClr val="FFFFFF"/>
                </a:solidFill>
                <a:latin typeface="PingFang TC"/>
              </a:rPr>
              <a:t>受託召集人：廖倫豪 先生（A17 區權人）向全體鄰居承諾：</a:t>
            </a:r>
          </a:p>
          <a:p>
            <a:pPr>
              <a:spcAft>
                <a:spcPts val="600"/>
              </a:spcAft>
            </a:pPr>
            <a:r>
              <a:rPr sz="850">
                <a:solidFill>
                  <a:srgbClr val="94A3B8"/>
                </a:solidFill>
                <a:latin typeface="PingFang TC"/>
              </a:rPr>
              <a:t>1. 全程依法推進：嚴格依《公寓大廈管理條例》第 26 條向管委會及龍井區公所辦理，不引發鄰里對立。</a:t>
            </a:r>
          </a:p>
          <a:p>
            <a:pPr>
              <a:spcAft>
                <a:spcPts val="600"/>
              </a:spcAft>
            </a:pPr>
            <a:r>
              <a:rPr sz="850">
                <a:solidFill>
                  <a:srgbClr val="94A3B8"/>
                </a:solidFill>
                <a:latin typeface="PingFang TC"/>
              </a:rPr>
              <a:t>2. 帳目百分之百透明：取回之 28 萬餘元公款全數進入大境管委會公庫專戶，任何動支均需委員複核，絕無私挪混用。</a:t>
            </a:r>
          </a:p>
          <a:p>
            <a:pPr>
              <a:spcAft>
                <a:spcPts val="600"/>
              </a:spcAft>
            </a:pPr>
            <a:r>
              <a:rPr sz="850">
                <a:solidFill>
                  <a:srgbClr val="94A3B8"/>
                </a:solidFill>
                <a:latin typeface="PingFang TC"/>
              </a:rPr>
              <a:t>3. 免除大家行政繁瑣：全套公文、地籍圖、協議書均已編制完備，由廖倫豪代表出席交涉送件，鄰居只需安心簽名坐享權益！</a:t>
            </a:r>
          </a:p>
          <a:p>
            <a:pPr>
              <a:spcAft>
                <a:spcPts val="600"/>
              </a:spcAft>
            </a:pPr>
            <a:r>
              <a:rPr sz="850">
                <a:solidFill>
                  <a:srgbClr val="94A3B8"/>
                </a:solidFill>
                <a:latin typeface="PingFang TC"/>
              </a:rPr>
              <a:t>4. 自主生活高品質：垃圾自己等、公款自己管、路燈自己顧，共同打造最安心有尊嚴的別墅聚落！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PingFang TC"/>
              </a:rPr>
              <a:t>報告人：廖倫豪（A17 區權人） ｜ 富宇大境（A2 區）獨立分割法定提案說明會 ｜ 第 7 頁 / 共 8 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09728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PingFang TC"/>
              </a:rPr>
              <a:t>富宇大境 ｜ 自主治理 ｜ 互利共贏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E6D5AC"/>
                </a:solidFill>
                <a:latin typeface="PingFang TC"/>
              </a:rPr>
              <a:t>感謝各位鄰居撥冗出席！
讓我們攜手簽署連署書，迎回屬於我們自己的尊嚴、自主權與 28 萬公款！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10728655" cy="1280160"/>
          </a:xfrm>
          <a:prstGeom prst="roundRect">
            <a:avLst/>
          </a:prstGeom>
          <a:solidFill>
            <a:srgbClr val="151B28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0916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4AF37"/>
                </a:solidFill>
                <a:latin typeface="PingFang TC"/>
              </a:rPr>
              <a:t>【開放現場問答與連署書簽章】</a:t>
            </a:r>
          </a:p>
          <a:p>
            <a:r>
              <a:rPr sz="950">
                <a:solidFill>
                  <a:srgbClr val="FFFFFF"/>
                </a:solidFill>
                <a:latin typeface="PingFang TC"/>
              </a:rPr>
              <a:t>專案報告人：廖倫豪 先生（台中市沙鹿區龍社路 595 號 A17）  ｜  全套法定審計卷宗與清算協議書現場提供參閱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PingFang TC"/>
              </a:rPr>
              <a:t>報告人：廖倫豪（A17 區權人） ｜ 富宇大境（A2 區）獨立分割法定提案說明會 ｜ 第 8 頁 / 共 8 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